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FACILITATOR ACTIONS — SLIDE 1 (Cover) | Time: 10 minutes</a:t>
            </a:r>
          </a:p>
          <a:p>
            <a:r>
              <a:rPr lang="en-US" dirty="0"/>
              <a:t>━━━━━━━━━━━━━━━━━━━━━━━━━━━━━━━━━━━━━━━━━━━━━━━━━━━━━━━━</a:t>
            </a:r>
          </a:p>
          <a:p>
            <a:r>
              <a:rPr lang="en-US" dirty="0"/>
              <a:t/>
            </a:r>
          </a:p>
          <a:p>
            <a:r>
              <a:rPr lang="en-US" dirty="0"/>
              <a:t>BEFORE CLASS STARTS:</a:t>
            </a:r>
          </a:p>
          <a:p>
            <a:r>
              <a:rPr lang="en-US" dirty="0"/>
              <a:t>- Arrive 30 minutes early. Set up projector and test display.</a:t>
            </a:r>
          </a:p>
          <a:p>
            <a:r>
              <a:rPr lang="en-US" dirty="0"/>
              <a:t>- Write on the whiteboard: "What do you know about your organisation's cloud bill?"</a:t>
            </a:r>
          </a:p>
          <a:p>
            <a:r>
              <a:rPr lang="en-US" dirty="0"/>
              <a:t>- Print and place the lab handout (billing spreadsheet) face-down on tables — don't reveal it yet.</a:t>
            </a:r>
          </a:p>
          <a:p>
            <a:r>
              <a:rPr lang="en-US" dirty="0"/>
              <a:t>- Have the attendance sheet ready.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OPENING (say this):</a:t>
            </a:r>
          </a:p>
          <a:p>
            <a:r>
              <a:rPr lang="en-US" dirty="0"/>
              <a:t>"Good morning everyone. Welcome to Day 1 of the FinOps and Cloud Financial Management course.</a:t>
            </a:r>
          </a:p>
          <a:p>
            <a:r>
              <a:rPr lang="en-US" dirty="0"/>
              <a:t>Over the next 5 days, we are going to completely change how LAPO MfB thinks about cloud spending.</a:t>
            </a:r>
          </a:p>
          <a:p>
            <a:r>
              <a:rPr lang="en-US" dirty="0"/>
              <a:t>By Friday, you will have a real governance framework ready to implement — not just theory."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ICE-BREAKER (do this before moving on — 5 minutes):</a:t>
            </a:r>
          </a:p>
          <a:p>
            <a:r>
              <a:rPr lang="en-US" dirty="0"/>
              <a:t>Ask the room: "Quick show of hands — how many of you have ever been surprised by a cloud bill?</a:t>
            </a:r>
          </a:p>
          <a:p>
            <a:r>
              <a:rPr lang="en-US" dirty="0"/>
              <a:t>How many of you actually knew WHY the bill was that high?"</a:t>
            </a:r>
          </a:p>
          <a:p>
            <a:r>
              <a:rPr lang="en-US" dirty="0"/>
              <a:t>Let 2-3 people respond. This creates the 'pain point' that FinOps solves.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INTRODUCE THE AGENDA:</a:t>
            </a:r>
          </a:p>
          <a:p>
            <a:r>
              <a:rPr lang="en-US" dirty="0"/>
              <a:t>Walk through the 5 topics at the bottom of the slide briefly.</a:t>
            </a:r>
          </a:p>
          <a:p>
            <a:r>
              <a:rPr lang="en-US" dirty="0"/>
              <a:t>Tell them: "These 5 things are what we cover today. By 5pm you will understand all of them."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TRANSITION: "Let's start with the most important question — what exactly is FinOps?"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FACILITATOR ACTIONS — SLIDE 2 (What is FinOps?) | Time: 15 minutes</a:t>
            </a:r>
          </a:p>
          <a:p>
            <a:r>
              <a:rPr lang="en-US" dirty="0"/>
              <a:t>━━━━━━━━━━━━━━━━━━━━━━━━━━━━━━━━━━━━━━━━━━━━━━━━━━━━━━━━━━━━━━━━━━</a:t>
            </a:r>
          </a:p>
          <a:p>
            <a:r>
              <a:rPr lang="en-US" dirty="0"/>
              <a:t/>
            </a:r>
          </a:p>
          <a:p>
            <a:r>
              <a:rPr lang="en-US" dirty="0"/>
              <a:t>WHAT TO SAY — THE DEFINITION:</a:t>
            </a:r>
          </a:p>
          <a:p>
            <a:r>
              <a:rPr lang="en-US" dirty="0"/>
              <a:t>"FinOps stands for Cloud Financial Operations. Read this definition with me."</a:t>
            </a:r>
          </a:p>
          <a:p>
            <a:r>
              <a:rPr lang="en-US" dirty="0"/>
              <a:t>[Read the quote aloud slowly.]</a:t>
            </a:r>
          </a:p>
          <a:p>
            <a:r>
              <a:rPr lang="en-US" dirty="0"/>
              <a:t>"Three key phrases here: financial accountability, cloud spending, and collaborate.</a:t>
            </a:r>
          </a:p>
          <a:p>
            <a:r>
              <a:rPr lang="en-US" dirty="0"/>
              <a:t>Those three words are the entire point of this course."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EXPLAIN THE ANALOGY (spend 2 minutes on this — it makes everything click):</a:t>
            </a:r>
          </a:p>
          <a:p>
            <a:r>
              <a:rPr lang="en-US" dirty="0"/>
              <a:t>"Most of you in this room know DevOps. DevOps brought developers and operations teams together</a:t>
            </a:r>
          </a:p>
          <a:p>
            <a:r>
              <a:rPr lang="en-US" dirty="0"/>
              <a:t>so software could be released faster. Before DevOps, developers threw code over the wall to</a:t>
            </a:r>
          </a:p>
          <a:p>
            <a:r>
              <a:rPr lang="en-US" dirty="0"/>
              <a:t>operations and nobody talked. Sound familiar?</a:t>
            </a:r>
          </a:p>
          <a:p>
            <a:r>
              <a:rPr lang="en-US" dirty="0"/>
              <a:t>FinOps does the same thing — but for money. Before FinOps, engineers deploy cloud resources,</a:t>
            </a:r>
          </a:p>
          <a:p>
            <a:r>
              <a:rPr lang="en-US" dirty="0"/>
              <a:t>finance gets the bill, nobody talks, and everyone is surprised."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EXPLAIN THE 3 PILLARS:</a:t>
            </a:r>
          </a:p>
          <a:p>
            <a:r>
              <a:rPr lang="en-US" dirty="0"/>
              <a:t>Point to each pillar as you speak.</a:t>
            </a:r>
          </a:p>
          <a:p>
            <a:r>
              <a:rPr lang="en-US" dirty="0"/>
              <a:t>- PEOPLE: "FinOps only works when three groups are in the room: the people who build things</a:t>
            </a:r>
          </a:p>
          <a:p>
            <a:r>
              <a:rPr lang="en-US" dirty="0"/>
              <a:t>  (engineers), the people who pay for things (finance), and the people who benefit from things</a:t>
            </a:r>
          </a:p>
          <a:p>
            <a:r>
              <a:rPr lang="en-US" dirty="0"/>
              <a:t>  (business units). If any one of these groups is missing, FinOps fails."</a:t>
            </a:r>
          </a:p>
          <a:p>
            <a:r>
              <a:rPr lang="en-US" dirty="0"/>
              <a:t>- PROCESS: "The process is a cycle — Inform, Optimize, Operate. We cover each one in Days 2, 3 and 4."</a:t>
            </a:r>
          </a:p>
          <a:p>
            <a:r>
              <a:rPr lang="en-US" dirty="0"/>
              <a:t>- TECHNOLOGY: "The technology is dashboards, alerts, and automation tools. They support the process."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DISCUSSION PROMPT (ask the room):</a:t>
            </a:r>
          </a:p>
          <a:p>
            <a:r>
              <a:rPr lang="en-US" dirty="0"/>
              <a:t>"At LAPO MfB right now — which of these three pillars is weakest? People, Process, or Technology?</a:t>
            </a:r>
          </a:p>
          <a:p>
            <a:r>
              <a:rPr lang="en-US" dirty="0"/>
              <a:t>Who wants to share their view?" [Take 2-3 responses. Do not correct anyone — just acknowledge.]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TRANSITION: "Before we go further, let me challenge something most people think about FinOps."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FACILITATOR ACTIONS — SLIDE 3 (Myth Busting) | Time: 15 minutes</a:t>
            </a:r>
          </a:p>
          <a:p>
            <a:r>
              <a:rPr lang="en-US" dirty="0"/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r>
              <a:rPr lang="en-US" dirty="0"/>
              <a:t/>
            </a:r>
          </a:p>
          <a:p>
            <a:r>
              <a:rPr lang="en-US" dirty="0"/>
              <a:t>HOW TO DELIVER THIS SLIDE:</a:t>
            </a:r>
          </a:p>
          <a:p>
            <a:r>
              <a:rPr lang="en-US" dirty="0"/>
              <a:t>Don't just read the myths. Ask the room BEFORE revealing the reality.</a:t>
            </a:r>
          </a:p>
          <a:p>
            <a:r>
              <a:rPr lang="en-US" dirty="0"/>
              <a:t>Cover the right side of the screen with your hand (or use a pointer) and ask the question first.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MYTH 1 — SCRIPT:</a:t>
            </a:r>
          </a:p>
          <a:p>
            <a:r>
              <a:rPr lang="en-US" dirty="0"/>
              <a:t>"Show of hands — who in this room thinks FinOps is mainly about reducing the cloud bill?"</a:t>
            </a:r>
          </a:p>
          <a:p>
            <a:r>
              <a:rPr lang="en-US" dirty="0"/>
              <a:t>[Wait for hands. Most people will raise their hand.]</a:t>
            </a:r>
          </a:p>
          <a:p>
            <a:r>
              <a:rPr lang="en-US" dirty="0"/>
              <a:t>"Good — and you are not wrong to think that. But watch what the reality actually is."</a:t>
            </a:r>
          </a:p>
          <a:p>
            <a:r>
              <a:rPr lang="en-US" dirty="0"/>
              <a:t>[Reveal the reality.]</a:t>
            </a:r>
          </a:p>
          <a:p>
            <a:r>
              <a:rPr lang="en-US" dirty="0"/>
              <a:t>"The goal is VALUE, not just cost reduction. If LAPO MfB spends an extra ₦5 million on cloud</a:t>
            </a:r>
          </a:p>
          <a:p>
            <a:r>
              <a:rPr lang="en-US" dirty="0"/>
              <a:t>this month but disburses 10,000 more loans — was that a bad decision? Absolutely not.</a:t>
            </a:r>
          </a:p>
          <a:p>
            <a:r>
              <a:rPr lang="en-US" dirty="0"/>
              <a:t>FinOps helps you make that call consciously, not accidentally."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MYTH 2 — SCRIPT:</a:t>
            </a:r>
          </a:p>
          <a:p>
            <a:r>
              <a:rPr lang="en-US" dirty="0"/>
              <a:t>"Who thinks the Finance team should be responsible for cloud costs? Who thinks IT should be?</a:t>
            </a:r>
          </a:p>
          <a:p>
            <a:r>
              <a:rPr lang="en-US" dirty="0"/>
              <a:t>Who thinks it should be a shared responsibility?"</a:t>
            </a:r>
          </a:p>
          <a:p>
            <a:r>
              <a:rPr lang="en-US" dirty="0"/>
              <a:t>[Let people debate for 60 seconds. This is usually lively.]</a:t>
            </a:r>
          </a:p>
          <a:p>
            <a:r>
              <a:rPr lang="en-US" dirty="0"/>
              <a:t>"The answer is: the person who deploys the resource owns the cost. If the lending team's</a:t>
            </a:r>
          </a:p>
          <a:p>
            <a:r>
              <a:rPr lang="en-US" dirty="0"/>
              <a:t>engineer spins up 10 servers for a loan processing job — the lending team owns that cost.</a:t>
            </a:r>
          </a:p>
          <a:p>
            <a:r>
              <a:rPr lang="en-US" dirty="0"/>
              <a:t>Finance tracks it. Engineering controls it. That is the shift FinOps creates."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MYTH 3 — SCRIPT:</a:t>
            </a:r>
          </a:p>
          <a:p>
            <a:r>
              <a:rPr lang="en-US" dirty="0"/>
              <a:t>"Has anyone been in a 'cloud cost optimisation project' before? Where a consultant came in,</a:t>
            </a:r>
          </a:p>
          <a:p>
            <a:r>
              <a:rPr lang="en-US" dirty="0"/>
              <a:t>cut some costs, produced a report, and left — and 6 months later costs were back up?"</a:t>
            </a:r>
          </a:p>
          <a:p>
            <a:r>
              <a:rPr lang="en-US" dirty="0"/>
              <a:t>[Usually gets laughs and nods.]</a:t>
            </a:r>
          </a:p>
          <a:p>
            <a:r>
              <a:rPr lang="en-US" dirty="0"/>
              <a:t>"That is what happens when FinOps is treated as a project. It is not a project.</a:t>
            </a:r>
          </a:p>
          <a:p>
            <a:r>
              <a:rPr lang="en-US" dirty="0"/>
              <a:t>It is an ongoing practice — like how you do not 'do security once' — you do it continuously."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TRANSITION: "Now that we have cleared those myths, let me show you the 6 core principles."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FACILITATOR ACTIONS — SLIDE 4 (6 Principles) | Time: 20 minutes</a:t>
            </a:r>
          </a:p>
          <a:p>
            <a:r>
              <a:rPr lang="en-US" dirty="0"/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r>
              <a:rPr lang="en-US" dirty="0"/>
              <a:t/>
            </a:r>
          </a:p>
          <a:p>
            <a:r>
              <a:rPr lang="en-US" dirty="0"/>
              <a:t>ACTIVITY — PAIR DISCUSSION (do this BEFORE explaining the principles):</a:t>
            </a:r>
          </a:p>
          <a:p>
            <a:r>
              <a:rPr lang="en-US" dirty="0"/>
              <a:t>"Before I explain these, I want you to turn to the person next to you.</a:t>
            </a:r>
          </a:p>
          <a:p>
            <a:r>
              <a:rPr lang="en-US" dirty="0"/>
              <a:t>You have 3 minutes to look at the 6 principles and answer this:</a:t>
            </a:r>
          </a:p>
          <a:p>
            <a:r>
              <a:rPr lang="en-US" dirty="0"/>
              <a:t>Which ONE principle do you think LAPO MfB already does well?</a:t>
            </a:r>
          </a:p>
          <a:p>
            <a:r>
              <a:rPr lang="en-US" dirty="0"/>
              <a:t>Which ONE do you think will be the hardest to implement? Go."</a:t>
            </a:r>
          </a:p>
          <a:p>
            <a:r>
              <a:rPr lang="en-US" dirty="0"/>
              <a:t>[Set a 3-minute timer. Walk around the room and listen.]</a:t>
            </a:r>
          </a:p>
          <a:p>
            <a:r>
              <a:rPr lang="en-US" dirty="0"/>
              <a:t>[After 3 minutes:] "Let's hear from two or three pairs. What did you pick?"</a:t>
            </a:r>
          </a:p>
          <a:p>
            <a:r>
              <a:rPr lang="en-US" dirty="0"/>
              <a:t>[Take responses. Write the most common answers on the whiteboard.]</a:t>
            </a:r>
          </a:p>
          <a:p>
            <a:r>
              <a:rPr lang="en-US" dirty="0"/>
              <a:t/>
            </a:r>
          </a:p>
          <a:p>
            <a:r>
              <a:rPr lang="en-US" dirty="0"/>
              <a:t>NOW WALK THROUGH EACH PRINCIPLE:</a:t>
            </a:r>
          </a:p>
          <a:p>
            <a:r>
              <a:rPr lang="en-US" dirty="0"/>
              <a:t/>
            </a:r>
          </a:p>
          <a:p>
            <a:r>
              <a:rPr lang="en-US" dirty="0"/>
              <a:t>01 — COLLABORATE:</a:t>
            </a:r>
          </a:p>
          <a:p>
            <a:r>
              <a:rPr lang="en-US" dirty="0"/>
              <a:t>"This is the foundation. FinOps dies in silos. If engineering optimises without finance knowing,</a:t>
            </a:r>
          </a:p>
          <a:p>
            <a:r>
              <a:rPr lang="en-US" dirty="0"/>
              <a:t>or finance sets budgets without engineering input — it breaks down. At LAPO, this means your</a:t>
            </a:r>
          </a:p>
          <a:p>
            <a:r>
              <a:rPr lang="en-US" dirty="0"/>
              <a:t>IT team and your Finance team need a shared meeting, shared dashboard, and shared language."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02 — EVERYONE OWNS COSTS:</a:t>
            </a:r>
          </a:p>
          <a:p>
            <a:r>
              <a:rPr lang="en-US" dirty="0"/>
              <a:t>"This is the hardest cultural shift. Engineers often think 'I just build things — cost is</a:t>
            </a:r>
          </a:p>
          <a:p>
            <a:r>
              <a:rPr lang="en-US" dirty="0"/>
              <a:t>finance's problem.' FinOps says no. If you clicked 'launch', you own the bill for it.</a:t>
            </a:r>
          </a:p>
          <a:p>
            <a:r>
              <a:rPr lang="en-US" dirty="0"/>
              <a:t>Think of it like a company credit card — whoever swipes it is responsible."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03 — FINOPS ENABLES (not polices):</a:t>
            </a:r>
          </a:p>
          <a:p>
            <a:r>
              <a:rPr lang="en-US" dirty="0"/>
              <a:t>"The FinOps team's job is to make it EASY for teams to do the right thing — not to stand</a:t>
            </a:r>
          </a:p>
          <a:p>
            <a:r>
              <a:rPr lang="en-US" dirty="0"/>
              <a:t>over them like security guards. If a team is overspending, the FinOps team helps them fix it.</a:t>
            </a:r>
          </a:p>
          <a:p>
            <a:r>
              <a:rPr lang="en-US" dirty="0"/>
              <a:t>They don't send threatening emails. They provide better tools and data."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04 — TIMELY DATA:</a:t>
            </a:r>
          </a:p>
          <a:p>
            <a:r>
              <a:rPr lang="en-US" dirty="0"/>
              <a:t>"Imagine getting your bank statement once a year. That is what monthly cloud billing feels like.</a:t>
            </a:r>
          </a:p>
          <a:p>
            <a:r>
              <a:rPr lang="en-US" dirty="0"/>
              <a:t>By the time you see the bill, the damage is done. FinOps requires real-time dashboards — so</a:t>
            </a:r>
          </a:p>
          <a:p>
            <a:r>
              <a:rPr lang="en-US" dirty="0"/>
              <a:t>a team can see TODAY that their costs are spiking, not next month."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05 — BUSINESS VALUE:</a:t>
            </a:r>
          </a:p>
          <a:p>
            <a:r>
              <a:rPr lang="en-US" dirty="0"/>
              <a:t>"Every cloud spend decision must answer: what business value does this create?</a:t>
            </a:r>
          </a:p>
          <a:p>
            <a:r>
              <a:rPr lang="en-US" dirty="0"/>
              <a:t>A FinOps team never says 'cut this' without understanding why it exists.</a:t>
            </a:r>
          </a:p>
          <a:p>
            <a:r>
              <a:rPr lang="en-US" dirty="0"/>
              <a:t>Cost per loan disbursed. Cost per active borrower. These are the metrics that matter."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06 — VARIABLE COST MODEL:</a:t>
            </a:r>
          </a:p>
          <a:p>
            <a:r>
              <a:rPr lang="en-US" dirty="0"/>
              <a:t>"Cloud's biggest advantage is that you only pay for what you use. Most organisations treat</a:t>
            </a:r>
          </a:p>
          <a:p>
            <a:r>
              <a:rPr lang="en-US" dirty="0"/>
              <a:t>cloud like they treated on-premise — always-on, always-same-size. That wastes the advantage.</a:t>
            </a:r>
          </a:p>
          <a:p>
            <a:r>
              <a:rPr lang="en-US" dirty="0"/>
              <a:t>FinOps says: scale up when you need it, scale down when you don't."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TRANSITION: "Now let's put these principles into a practical structure — the 3 phases."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FACILITATOR ACTIONS — SLIDE 5 (3 Phases) | Time: 20 minutes</a:t>
            </a:r>
          </a:p>
          <a:p>
            <a:r>
              <a:rPr lang="en-US" dirty="0"/>
              <a:t>━━━━━━━━━━━━━━━━━━━━━━━━━━━━━━━━━━━━━━━━━━━━━━━━━━━━━━━━━━</a:t>
            </a:r>
          </a:p>
          <a:p>
            <a:r>
              <a:rPr lang="en-US" dirty="0"/>
              <a:t/>
            </a:r>
          </a:p>
          <a:p>
            <a:r>
              <a:rPr lang="en-US" dirty="0"/>
              <a:t>OPENING STATEMENT:</a:t>
            </a:r>
          </a:p>
          <a:p>
            <a:r>
              <a:rPr lang="en-US" dirty="0"/>
              <a:t>"This slide is the most important one in the entire course. Everything we do across 5 days</a:t>
            </a:r>
          </a:p>
          <a:p>
            <a:r>
              <a:rPr lang="en-US" dirty="0"/>
              <a:t>maps back to these 3 phases. Write them on the top of your notes page right now:</a:t>
            </a:r>
          </a:p>
          <a:p>
            <a:r>
              <a:rPr lang="en-US" dirty="0"/>
              <a:t>Inform. Optimize. Operate."</a:t>
            </a:r>
          </a:p>
          <a:p>
            <a:r>
              <a:rPr lang="en-US" dirty="0"/>
              <a:t>[Pause and let them write.]</a:t>
            </a:r>
          </a:p>
          <a:p>
            <a:r>
              <a:rPr lang="en-US" dirty="0"/>
              <a:t/>
            </a:r>
          </a:p>
          <a:p>
            <a:r>
              <a:rPr lang="en-US" dirty="0"/>
              <a:t>PHASE 1 — INFORM (point to the green column):</a:t>
            </a:r>
          </a:p>
          <a:p>
            <a:r>
              <a:rPr lang="en-US" dirty="0"/>
              <a:t>"Inform is about answering one question: what are we actually spending, and who is responsible?</a:t>
            </a:r>
          </a:p>
          <a:p>
            <a:r>
              <a:rPr lang="en-US" dirty="0"/>
              <a:t>Right now at most organisations — including many microfinance banks — nobody can answer that</a:t>
            </a:r>
          </a:p>
          <a:p>
            <a:r>
              <a:rPr lang="en-US" dirty="0"/>
              <a:t>question precisely. Bills come in. Someone panics. People point fingers. Nobody knows.</a:t>
            </a:r>
          </a:p>
          <a:p>
            <a:r>
              <a:rPr lang="en-US" dirty="0"/>
              <a:t>The Inform phase fixes that. We build dashboards, we tag resources, we assign ownership.</a:t>
            </a:r>
          </a:p>
          <a:p>
            <a:r>
              <a:rPr lang="en-US" dirty="0"/>
              <a:t>We do all of this on Day 2."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REAL EXAMPLE FOR INFORM:</a:t>
            </a:r>
          </a:p>
          <a:p>
            <a:r>
              <a:rPr lang="en-US" dirty="0"/>
              <a:t>"Imagine LAPO's cloud bill arrives — ₦8.2 million for the month. Without Inform,</a:t>
            </a:r>
          </a:p>
          <a:p>
            <a:r>
              <a:rPr lang="en-US" dirty="0"/>
              <a:t>you see one number and have no idea where it came from. With Inform, you see:</a:t>
            </a:r>
          </a:p>
          <a:p>
            <a:r>
              <a:rPr lang="en-US" dirty="0"/>
              <a:t>Lending App: ₦3.1M | Core Banking: ₦2.8M | Analytics: ₦1.6M | Unknown: ₦0.7M.</a:t>
            </a:r>
          </a:p>
          <a:p>
            <a:r>
              <a:rPr lang="en-US" dirty="0"/>
              <a:t>That 'Unknown' is your first FinOps problem to solve."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PHASE 2 — OPTIMIZE (point to the purple column):</a:t>
            </a:r>
          </a:p>
          <a:p>
            <a:r>
              <a:rPr lang="en-US" dirty="0"/>
              <a:t>"Once you can see the costs, you start optimising. This means three things:</a:t>
            </a:r>
          </a:p>
          <a:p>
            <a:r>
              <a:rPr lang="en-US" dirty="0"/>
              <a:t>First — eliminate waste. Idle servers nobody is using. Orphaned storage nobody deleted.</a:t>
            </a:r>
          </a:p>
          <a:p>
            <a:r>
              <a:rPr lang="en-US" dirty="0"/>
              <a:t>Test environments running 24 hours when they only need to run 8.</a:t>
            </a:r>
          </a:p>
          <a:p>
            <a:r>
              <a:rPr lang="en-US" dirty="0"/>
              <a:t>Second — rightsize. That large database server running at 12% capacity? Move it to a small one.</a:t>
            </a:r>
          </a:p>
          <a:p>
            <a:r>
              <a:rPr lang="en-US" dirty="0"/>
              <a:t>Third — commit to discounts. If a workload runs predictably every day, buy a reserved instance.</a:t>
            </a:r>
          </a:p>
          <a:p>
            <a:r>
              <a:rPr lang="en-US" dirty="0"/>
              <a:t>We do all of this on Day 3."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PHASE 3 — OPERATE (point to the coral column):</a:t>
            </a:r>
          </a:p>
          <a:p>
            <a:r>
              <a:rPr lang="en-US" dirty="0"/>
              <a:t>"Operate means making FinOps a permanent part of how LAPO runs — not a project you do once.</a:t>
            </a:r>
          </a:p>
          <a:p>
            <a:r>
              <a:rPr lang="en-US" dirty="0"/>
              <a:t>This means: budgets, alerts, governance policies, forecasting, and compliance checks.</a:t>
            </a:r>
          </a:p>
          <a:p>
            <a:r>
              <a:rPr lang="en-US" dirty="0"/>
              <a:t>If Day 2 is the eyes and Day 3 is the hands — Day 4 is the backbone."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KEY MESSAGE — SAY THIS CLEARLY:</a:t>
            </a:r>
          </a:p>
          <a:p>
            <a:r>
              <a:rPr lang="en-US" dirty="0"/>
              <a:t>"These 3 phases are a loop, not a line. After you Operate, you go back to Inform.</a:t>
            </a:r>
          </a:p>
          <a:p>
            <a:r>
              <a:rPr lang="en-US" dirty="0"/>
              <a:t>New services get deployed, new costs appear, new optimisations become available.</a:t>
            </a:r>
          </a:p>
          <a:p>
            <a:r>
              <a:rPr lang="en-US" dirty="0"/>
              <a:t>FinOps teams run this cycle every single month."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QUICK CHECK — ask the room:</a:t>
            </a:r>
          </a:p>
          <a:p>
            <a:r>
              <a:rPr lang="en-US" dirty="0"/>
              <a:t>"Without looking at your notes — can someone tell me what each phase does in one sentence?</a:t>
            </a:r>
          </a:p>
          <a:p>
            <a:r>
              <a:rPr lang="en-US" dirty="0"/>
              <a:t>Inform? Optimize? Operate?" [Take 3 volunteers.]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TRANSITION: "Let's look at who needs to be involved to make these 3 phases work."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FACILITATOR ACTIONS — SLIDE 6 (Roles) | Time: 15 minutes</a:t>
            </a:r>
          </a:p>
          <a:p>
            <a:r>
              <a:rPr lang="en-US" dirty="0"/>
              <a:t>━━━━━━━━━━━━━━━━━━━━━━━━━━━━━━━━━━━━━━━━━━━━━━━━━━━━━━━━</a:t>
            </a:r>
          </a:p>
          <a:p>
            <a:r>
              <a:rPr lang="en-US" dirty="0"/>
              <a:t/>
            </a:r>
          </a:p>
          <a:p>
            <a:r>
              <a:rPr lang="en-US" dirty="0"/>
              <a:t>OPENING ACTIVITY (do this BEFORE explaining roles — 5 minutes):</a:t>
            </a:r>
          </a:p>
          <a:p>
            <a:r>
              <a:rPr lang="en-US" dirty="0"/>
              <a:t>"Look at the 6 roles on screen. Without me explaining them — I want each of you</a:t>
            </a:r>
          </a:p>
          <a:p>
            <a:r>
              <a:rPr lang="en-US" dirty="0"/>
              <a:t>to write down on a piece of paper: which role are YOU in this course?</a:t>
            </a:r>
          </a:p>
          <a:p>
            <a:r>
              <a:rPr lang="en-US" dirty="0"/>
              <a:t>You have 1 minute. Go."</a:t>
            </a:r>
          </a:p>
          <a:p>
            <a:r>
              <a:rPr lang="en-US" dirty="0"/>
              <a:t>[After 1 minute, ask for a show of hands for each role.]</a:t>
            </a:r>
          </a:p>
          <a:p>
            <a:r>
              <a:rPr lang="en-US" dirty="0"/>
              <a:t>[Write the counts on the whiteboard. This tells you your class composition.]</a:t>
            </a:r>
          </a:p>
          <a:p>
            <a:r>
              <a:rPr lang="en-US" dirty="0"/>
              <a:t/>
            </a:r>
          </a:p>
          <a:p>
            <a:r>
              <a:rPr lang="en-US" dirty="0"/>
              <a:t>EXPLAINING THE KEY ROLES:</a:t>
            </a:r>
          </a:p>
          <a:p>
            <a:r>
              <a:rPr lang="en-US" dirty="0"/>
              <a:t/>
            </a:r>
          </a:p>
          <a:p>
            <a:r>
              <a:rPr lang="en-US" dirty="0"/>
              <a:t>FINOPS PRACTITIONER:</a:t>
            </a:r>
          </a:p>
          <a:p>
            <a:r>
              <a:rPr lang="en-US" dirty="0"/>
              <a:t>"This is the central person or team. At LAPO MfB, this could be one person to start with —</a:t>
            </a:r>
          </a:p>
          <a:p>
            <a:r>
              <a:rPr lang="en-US" dirty="0"/>
              <a:t>someone from IT or Finance who is empowered to drive the FinOps agenda.</a:t>
            </a:r>
          </a:p>
          <a:p>
            <a:r>
              <a:rPr lang="en-US" dirty="0"/>
              <a:t>Their job is not to do all the work — it is to build the system, set the standards,</a:t>
            </a:r>
          </a:p>
          <a:p>
            <a:r>
              <a:rPr lang="en-US" dirty="0"/>
              <a:t>and make sure everyone else is doing their part."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FINOPS CHAMPION — MOST IMPORTANT FOR THIS CLASS:</a:t>
            </a:r>
          </a:p>
          <a:p>
            <a:r>
              <a:rPr lang="en-US" dirty="0"/>
              <a:t>"This is the role most of YOU will play after this course. A FinOps Champion is embedded</a:t>
            </a:r>
          </a:p>
          <a:p>
            <a:r>
              <a:rPr lang="en-US" dirty="0"/>
              <a:t>inside a team — the loans team, the risk team, the analytics team — and they are the</a:t>
            </a:r>
          </a:p>
          <a:p>
            <a:r>
              <a:rPr lang="en-US" dirty="0"/>
              <a:t>person in that team who asks 'what did we spend this month and why?'</a:t>
            </a:r>
          </a:p>
          <a:p>
            <a:r>
              <a:rPr lang="en-US" dirty="0"/>
              <a:t>You don't need to be technical. You need to be curious and persistent."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CLOUD ENGINEER:</a:t>
            </a:r>
          </a:p>
          <a:p>
            <a:r>
              <a:rPr lang="en-US" dirty="0"/>
              <a:t>"They are the ones who actually have the power to change costs. Engineers decide what size</a:t>
            </a:r>
          </a:p>
          <a:p>
            <a:r>
              <a:rPr lang="en-US" dirty="0"/>
              <a:t>of server to use, whether to delete old resources, whether to schedule workloads.</a:t>
            </a:r>
          </a:p>
          <a:p>
            <a:r>
              <a:rPr lang="en-US" dirty="0"/>
              <a:t>FinOps only works if engineers are on board — and the way to get them on board is to</a:t>
            </a:r>
          </a:p>
          <a:p>
            <a:r>
              <a:rPr lang="en-US" dirty="0"/>
              <a:t>give them visibility and remove the blame culture."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FINANCE / PROCUREMENT:</a:t>
            </a:r>
          </a:p>
          <a:p>
            <a:r>
              <a:rPr lang="en-US" dirty="0"/>
              <a:t>"Their job changes in FinOps. Instead of just receiving a bill and questioning it —</a:t>
            </a:r>
          </a:p>
          <a:p>
            <a:r>
              <a:rPr lang="en-US" dirty="0"/>
              <a:t>they become active in forecasting, vendor negotiations, and commitment discount strategy.</a:t>
            </a:r>
          </a:p>
          <a:p>
            <a:r>
              <a:rPr lang="en-US" dirty="0"/>
              <a:t>They need to understand what a Reserved Instance is and how it affects the budget."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LEADERSHIP / CISO:</a:t>
            </a:r>
          </a:p>
          <a:p>
            <a:r>
              <a:rPr lang="en-US" dirty="0"/>
              <a:t>"Leadership has to set the tone from the top. If the CTO says 'I don't care about cloud costs</a:t>
            </a:r>
          </a:p>
          <a:p>
            <a:r>
              <a:rPr lang="en-US" dirty="0"/>
              <a:t>as long as it works' — FinOps will never get traction. Leadership needs to make cost</a:t>
            </a:r>
          </a:p>
          <a:p>
            <a:r>
              <a:rPr lang="en-US" dirty="0"/>
              <a:t>accountability part of performance reviews and team OKRs."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TRANSITION: "Now let me make this very specific to LAPO MfB — why do YOU need FinOps urgently?"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FACILITATOR ACTIONS — SLIDE 7 (LAPO Context) | Time: 20 minutes</a:t>
            </a:r>
          </a:p>
          <a:p>
            <a:r>
              <a:rPr lang="en-US" dirty="0"/>
              <a:t>━━━━━━━━━━━━━━━━━━━━━━━━━━━━━━━━━━━━━━━━━━━━━━━━━━━━━━━━━━━━━━━</a:t>
            </a:r>
          </a:p>
          <a:p>
            <a:r>
              <a:rPr lang="en-US" dirty="0"/>
              <a:t/>
            </a:r>
          </a:p>
          <a:p>
            <a:r>
              <a:rPr lang="en-US" dirty="0"/>
              <a:t>OPENING:</a:t>
            </a:r>
          </a:p>
          <a:p>
            <a:r>
              <a:rPr lang="en-US" dirty="0"/>
              <a:t>"Everything we have discussed so far is general FinOps. Now let us make it specific to LAPO.</a:t>
            </a:r>
          </a:p>
          <a:p>
            <a:r>
              <a:rPr lang="en-US" dirty="0"/>
              <a:t>These four scenarios are not made up — they reflect the real cost pressures microfinance</a:t>
            </a:r>
          </a:p>
          <a:p>
            <a:r>
              <a:rPr lang="en-US" dirty="0"/>
              <a:t>banks in Nigeria face when running on cloud."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SCENARIO 1 — MOBILE LENDING APP:</a:t>
            </a:r>
          </a:p>
          <a:p>
            <a:r>
              <a:rPr lang="en-US" dirty="0"/>
              <a:t>"LAPO's mobile app is your front door to customers. When you run a loan campaign —</a:t>
            </a:r>
          </a:p>
          <a:p>
            <a:r>
              <a:rPr lang="en-US" dirty="0"/>
              <a:t>say a promotional rate during Ramadan or end of year — applications flood in.</a:t>
            </a:r>
          </a:p>
          <a:p>
            <a:r>
              <a:rPr lang="en-US" dirty="0"/>
              <a:t>Auto-scaling means the cloud automatically adds more servers to handle the traffic.</a:t>
            </a:r>
          </a:p>
          <a:p>
            <a:r>
              <a:rPr lang="en-US" dirty="0"/>
              <a:t>Great for performance. Terrible for the bill if nobody is watching.</a:t>
            </a:r>
          </a:p>
          <a:p>
            <a:r>
              <a:rPr lang="en-US" dirty="0"/>
              <a:t>Without FinOps, your December campaign ends and the servers are still running in January.</a:t>
            </a:r>
          </a:p>
          <a:p>
            <a:r>
              <a:rPr lang="en-US" dirty="0"/>
              <a:t>With FinOps, you set a budget alert, you monitor daily, and you scale back as soon as the</a:t>
            </a:r>
          </a:p>
          <a:p>
            <a:r>
              <a:rPr lang="en-US" dirty="0"/>
              <a:t>campaign ends. That one change alone can save millions of naira."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SCENARIO 2 — CORE BANKING:</a:t>
            </a:r>
          </a:p>
          <a:p>
            <a:r>
              <a:rPr lang="en-US" dirty="0"/>
              <a:t>"Core banking systems run 24/7, every day, all year. That is a predictable, stable workload.</a:t>
            </a:r>
          </a:p>
          <a:p>
            <a:r>
              <a:rPr lang="en-US" dirty="0"/>
              <a:t>Cloud providers reward predictability with deep discounts — up to 72% off — if you commit</a:t>
            </a:r>
          </a:p>
          <a:p>
            <a:r>
              <a:rPr lang="en-US" dirty="0"/>
              <a:t>to using a resource for 1 or 3 years. This is called a Reserved Instance.</a:t>
            </a:r>
          </a:p>
          <a:p>
            <a:r>
              <a:rPr lang="en-US" dirty="0"/>
              <a:t>Most organisations do not do this because nobody is looking at the bill carefully enough.</a:t>
            </a:r>
          </a:p>
          <a:p>
            <a:r>
              <a:rPr lang="en-US" dirty="0"/>
              <a:t>A FinOps team identifies these workloads and buys the commitment. That is real, immediate savings."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SCENARIO 3 — ANALYTICS:</a:t>
            </a:r>
          </a:p>
          <a:p>
            <a:r>
              <a:rPr lang="en-US" dirty="0"/>
              <a:t>"Credit scoring, loan risk models, month-end reports — these are heavy compute jobs that</a:t>
            </a:r>
          </a:p>
          <a:p>
            <a:r>
              <a:rPr lang="en-US" dirty="0"/>
              <a:t>only run at specific times. Running large servers 24/7 to serve jobs that only need them</a:t>
            </a:r>
          </a:p>
          <a:p>
            <a:r>
              <a:rPr lang="en-US" dirty="0"/>
              <a:t>4 hours a day is pure waste. Scheduling those jobs on cheaper 'spot' instances — spare</a:t>
            </a:r>
          </a:p>
          <a:p>
            <a:r>
              <a:rPr lang="en-US" dirty="0"/>
              <a:t>cloud capacity sold at discount — can reduce analytics costs by up to 80%."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SCENARIO 4 — CBN COMPLIANCE:</a:t>
            </a:r>
          </a:p>
          <a:p>
            <a:r>
              <a:rPr lang="en-US" dirty="0"/>
              <a:t>"The Central Bank of Nigeria has guidelines about where customer data can be stored.</a:t>
            </a:r>
          </a:p>
          <a:p>
            <a:r>
              <a:rPr lang="en-US" dirty="0"/>
              <a:t>Some data must remain in Nigeria or designated regions. If your engineers deploy a</a:t>
            </a:r>
          </a:p>
          <a:p>
            <a:r>
              <a:rPr lang="en-US" dirty="0"/>
              <a:t>database in a cheaper US region without knowing this rule — you have a compliance</a:t>
            </a:r>
          </a:p>
          <a:p>
            <a:r>
              <a:rPr lang="en-US" dirty="0"/>
              <a:t>problem AND an unexpected cost problem when you have to migrate it.</a:t>
            </a:r>
          </a:p>
          <a:p>
            <a:r>
              <a:rPr lang="en-US" dirty="0"/>
              <a:t>FinOps governance prevents this by making region selection part of the approval process."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GROUP DISCUSSION (5 minutes):</a:t>
            </a:r>
          </a:p>
          <a:p>
            <a:r>
              <a:rPr lang="en-US" dirty="0"/>
              <a:t>"Which of these four scenarios do you think is most urgent for LAPO right now?</a:t>
            </a:r>
          </a:p>
          <a:p>
            <a:r>
              <a:rPr lang="en-US" dirty="0"/>
              <a:t>Discuss at your table for 2 minutes, then we will hear from each table."</a:t>
            </a:r>
          </a:p>
          <a:p>
            <a:r>
              <a:rPr lang="en-US" dirty="0"/>
              <a:t>[Facilitate brief sharing. Do not go into deep solutions — save that for Days 2-4.]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TRANSITION: "Before we do our lab, let us make sure everyone knows the key terms."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FACILITATOR ACTIONS — SLIDE 8 (Key Terms) | Time: 10 minutes</a:t>
            </a:r>
          </a:p>
          <a:p>
            <a:r>
              <a:rPr lang="en-US" dirty="0"/>
              <a:t>━━━━━━━━━━━━━━━━━━━━━━━━━━━━━━━━━━━━━━━━━━━━━━━━━━━━━━━━━━━</a:t>
            </a:r>
          </a:p>
          <a:p>
            <a:r>
              <a:rPr lang="en-US" dirty="0"/>
              <a:t/>
            </a:r>
          </a:p>
          <a:p>
            <a:r>
              <a:rPr lang="en-US" dirty="0"/>
              <a:t>DELIVERY METHOD — QUIZ FORMAT (makes it interactive):</a:t>
            </a:r>
          </a:p>
          <a:p>
            <a:r>
              <a:rPr lang="en-US" dirty="0"/>
              <a:t>Do NOT just read through the terms. Instead:</a:t>
            </a:r>
          </a:p>
          <a:p>
            <a:r>
              <a:rPr lang="en-US" dirty="0"/>
              <a:t>1. Cover the definition side and read the term. Ask someone to guess the meaning.</a:t>
            </a:r>
          </a:p>
          <a:p>
            <a:r>
              <a:rPr lang="en-US" dirty="0"/>
              <a:t>2. Reveal the definition. Correct or affirm.</a:t>
            </a:r>
          </a:p>
          <a:p>
            <a:r>
              <a:rPr lang="en-US" dirty="0"/>
              <a:t>3. Repeat for each term — move quickly (30 seconds per term).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TERMS TO SPEND EXTRA TIME ON:</a:t>
            </a:r>
          </a:p>
          <a:p>
            <a:r>
              <a:rPr lang="en-US" dirty="0"/>
              <a:t/>
            </a:r>
          </a:p>
          <a:p>
            <a:r>
              <a:rPr lang="en-US" dirty="0"/>
              <a:t>CHARGEBACK vs SHOWBACK (participants confuse these constantly):</a:t>
            </a:r>
          </a:p>
          <a:p>
            <a:r>
              <a:rPr lang="en-US" dirty="0"/>
              <a:t>"Showback means you show a team their costs — like a report card. No money moves.</a:t>
            </a:r>
          </a:p>
          <a:p>
            <a:r>
              <a:rPr lang="en-US" dirty="0"/>
              <a:t>Chargeback means you actually charge that money to the team's budget. Real financial impact.</a:t>
            </a:r>
          </a:p>
          <a:p>
            <a:r>
              <a:rPr lang="en-US" dirty="0"/>
              <a:t>Most organisations start with Showback to build awareness, then move to Chargeback</a:t>
            </a:r>
          </a:p>
          <a:p>
            <a:r>
              <a:rPr lang="en-US" dirty="0"/>
              <a:t>once teams understand and accept their responsibility. We will discuss this on Day 2."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UNIT ECONOMICS (very relevant for microfinance):</a:t>
            </a:r>
          </a:p>
          <a:p>
            <a:r>
              <a:rPr lang="en-US" dirty="0"/>
              <a:t>"This is one of the most powerful FinOps concepts for a bank like LAPO.</a:t>
            </a:r>
          </a:p>
          <a:p>
            <a:r>
              <a:rPr lang="en-US" dirty="0"/>
              <a:t>Instead of asking 'how much did we spend on cloud this month?' — you ask</a:t>
            </a:r>
          </a:p>
          <a:p>
            <a:r>
              <a:rPr lang="en-US" dirty="0"/>
              <a:t>'how much did it cost us to disburse each loan?' or 'what is our cloud cost per active borrower?'</a:t>
            </a:r>
          </a:p>
          <a:p>
            <a:r>
              <a:rPr lang="en-US" dirty="0"/>
              <a:t>These numbers allow you to tie cloud spending directly to business performance."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TAGGING (critical for everything else):</a:t>
            </a:r>
          </a:p>
          <a:p>
            <a:r>
              <a:rPr lang="en-US" dirty="0"/>
              <a:t>"Tagging is the foundation of cost allocation. If your resources are not tagged,</a:t>
            </a:r>
          </a:p>
          <a:p>
            <a:r>
              <a:rPr lang="en-US" dirty="0"/>
              <a:t>you cannot tell which team or product is spending what. We go deep on tagging on Day 2.</a:t>
            </a:r>
          </a:p>
          <a:p>
            <a:r>
              <a:rPr lang="en-US" dirty="0"/>
              <a:t>For now, just remember: no tags = no visibility = no FinOps."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ACTIVITY — PAIR QUIZ (3 minutes):</a:t>
            </a:r>
          </a:p>
          <a:p>
            <a:r>
              <a:rPr lang="en-US" dirty="0"/>
              <a:t>"Close your eyes, partner up, and take turns testing each other on these 10 terms.</a:t>
            </a:r>
          </a:p>
          <a:p>
            <a:r>
              <a:rPr lang="en-US" dirty="0"/>
              <a:t>One person reads the term, the other gives the definition from memory. Go."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TRANSITION: "Perfect. Now it is time to apply what you have learned. Lab time."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FACILITATOR ACTIONS — SLIDE 9 (Hands-on Lab) | Time: 45 minutes total</a:t>
            </a:r>
          </a:p>
          <a:p>
            <a:r>
              <a:rPr lang="en-US" dirty="0"/>
              <a:t>━━━━━━━━━━━━━━━━━━━━━━━━━━━━━━━━━━━━━━━━━━━━━━━━━━━━━━━━━━━━━━━━━━━━</a:t>
            </a:r>
          </a:p>
          <a:p>
            <a:r>
              <a:rPr lang="en-US" dirty="0"/>
              <a:t/>
            </a:r>
          </a:p>
          <a:p>
            <a:r>
              <a:rPr lang="en-US" dirty="0"/>
              <a:t>BEFORE STARTING THE LAB:</a:t>
            </a:r>
          </a:p>
          <a:p>
            <a:r>
              <a:rPr lang="en-US" dirty="0"/>
              <a:t>- Flip over the billing spreadsheet on each table (you placed it face-down at the start).</a:t>
            </a:r>
          </a:p>
          <a:p>
            <a:r>
              <a:rPr lang="en-US" dirty="0"/>
              <a:t>- Divide participants into groups of 3–4. Mix roles — put an engineer with a finance person.</a:t>
            </a:r>
          </a:p>
          <a:p>
            <a:r>
              <a:rPr lang="en-US" dirty="0"/>
              <a:t>- Set a visible 25-minute timer on the projector or your phone.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INTRODUCING THE LAB (say this):</a:t>
            </a:r>
          </a:p>
          <a:p>
            <a:r>
              <a:rPr lang="en-US" dirty="0"/>
              <a:t>"You now have a simulated LAPO MfB cloud bill. It shows every cloud service that LAPO used</a:t>
            </a:r>
          </a:p>
          <a:p>
            <a:r>
              <a:rPr lang="en-US" dirty="0"/>
              <a:t>last month, the cost for each one, and which cloud provider it came from.</a:t>
            </a:r>
          </a:p>
          <a:p>
            <a:r>
              <a:rPr lang="en-US" dirty="0"/>
              <a:t>Your job as a group is to do what most organisations never do — make sense of it.</a:t>
            </a:r>
          </a:p>
          <a:p>
            <a:r>
              <a:rPr lang="en-US" dirty="0"/>
              <a:t>Follow the 4 steps on screen. At the end, one person from your group will present your findings."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WHAT TO DO DURING THE 25 MINUTES:</a:t>
            </a:r>
          </a:p>
          <a:p>
            <a:r>
              <a:rPr lang="en-US" dirty="0"/>
              <a:t>- Walk around the room. Listen to group conversations. Do NOT give answers.</a:t>
            </a:r>
          </a:p>
          <a:p>
            <a:r>
              <a:rPr lang="en-US" dirty="0"/>
              <a:t>- If a group is stuck on Step 1, hint: "Think about what kind of work each service does."</a:t>
            </a:r>
          </a:p>
          <a:p>
            <a:r>
              <a:rPr lang="en-US" dirty="0"/>
              <a:t>- If a group finishes early, give them an extension task:</a:t>
            </a:r>
          </a:p>
          <a:p>
            <a:r>
              <a:rPr lang="en-US" dirty="0"/>
              <a:t>  "Now estimate — if you could eliminate the items in the 'Other' category,</a:t>
            </a:r>
          </a:p>
          <a:p>
            <a:r>
              <a:rPr lang="en-US" dirty="0"/>
              <a:t>  how much would that save per year?"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THINGS TO WATCH FOR (common patterns):</a:t>
            </a:r>
          </a:p>
          <a:p>
            <a:r>
              <a:rPr lang="en-US" dirty="0"/>
              <a:t>- Groups will find services with no tag and no obvious owner — highlight this when presenting.</a:t>
            </a:r>
          </a:p>
          <a:p>
            <a:r>
              <a:rPr lang="en-US" dirty="0"/>
              <a:t>- Groups often underestimate how much the database tier costs — use this as a teaching moment.</a:t>
            </a:r>
          </a:p>
          <a:p>
            <a:r>
              <a:rPr lang="en-US" dirty="0"/>
              <a:t>- Finance participants often cannot identify what a service does — this is the 'language gap' FinOps fixes.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DEBRIEF — PRESENTATIONS (15 minutes):</a:t>
            </a:r>
          </a:p>
          <a:p>
            <a:r>
              <a:rPr lang="en-US" dirty="0"/>
              <a:t>Ask each group to stand and share for 2 minutes:</a:t>
            </a:r>
          </a:p>
          <a:p>
            <a:r>
              <a:rPr lang="en-US" dirty="0"/>
              <a:t>- "What were your top 2 cost categories?"</a:t>
            </a:r>
          </a:p>
          <a:p>
            <a:r>
              <a:rPr lang="en-US" dirty="0"/>
              <a:t>- "What was your accountability gap?"</a:t>
            </a:r>
          </a:p>
          <a:p>
            <a:r>
              <a:rPr lang="en-US" dirty="0"/>
              <a:t>- "What quick win did you find?"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After all groups present, wrap up with:</a:t>
            </a:r>
          </a:p>
          <a:p>
            <a:r>
              <a:rPr lang="en-US" dirty="0"/>
              <a:t>"Notice what just happened. In 25 minutes, you did more cloud cost analysis than most</a:t>
            </a:r>
          </a:p>
          <a:p>
            <a:r>
              <a:rPr lang="en-US" dirty="0"/>
              <a:t>organisations do in a month. That is what FinOps looks like in practice — cross-functional</a:t>
            </a:r>
          </a:p>
          <a:p>
            <a:r>
              <a:rPr lang="en-US" dirty="0"/>
              <a:t>teams, looking at real data, asking simple questions. Now imagine doing this every week."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TRANSITION: "Let us close Day 1 with a summary of everything we covered."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 dirty="0"/>
              <a:t>FACILITATOR ACTIONS — SLIDE 10 (Summary &amp; Close) | Time: 15 minutes</a:t>
            </a:r>
          </a:p>
          <a:p>
            <a:r>
              <a:rPr lang="en-US" dirty="0"/>
              <a:t>━━━━━━━━━━━━━━━━━━━━━━━━━━━━━━━━━━━━━━━━━━━━━━━━━━━━━━━━━━━━━━━━━━</a:t>
            </a:r>
          </a:p>
          <a:p>
            <a:r>
              <a:rPr lang="en-US" dirty="0"/>
              <a:t/>
            </a:r>
          </a:p>
          <a:p>
            <a:r>
              <a:rPr lang="en-US" dirty="0"/>
              <a:t>WALK THROUGH THE SUMMARY (5 minutes):</a:t>
            </a:r>
          </a:p>
          <a:p>
            <a:r>
              <a:rPr lang="en-US" dirty="0"/>
              <a:t>Go through each point and ask a participant to summarise it before you confirm.</a:t>
            </a:r>
          </a:p>
          <a:p>
            <a:r>
              <a:rPr lang="en-US" dirty="0"/>
              <a:t>"Who can remind us — in one sentence — what FinOps is?" [Take response, confirm.]</a:t>
            </a:r>
          </a:p>
          <a:p>
            <a:r>
              <a:rPr lang="en-US" dirty="0"/>
              <a:t>"Who remembers the 3 myths?" [Take response, confirm.]</a:t>
            </a:r>
          </a:p>
          <a:p>
            <a:r>
              <a:rPr lang="en-US" dirty="0"/>
              <a:t>"Who can name all 6 principles?" [Challenge — offer a small prize if anyone gets all 6.]</a:t>
            </a:r>
          </a:p>
          <a:p>
            <a:r>
              <a:rPr lang="en-US" dirty="0"/>
              <a:t/>
            </a:r>
          </a:p>
          <a:p>
            <a:r>
              <a:rPr lang="en-US" dirty="0"/>
              <a:t>EXIT TICKET ACTIVITY (5 minutes — very effective):</a:t>
            </a:r>
          </a:p>
          <a:p>
            <a:r>
              <a:rPr lang="en-US" dirty="0"/>
              <a:t>Give every participant a sticky note (or small piece of paper). Ask them to write:</a:t>
            </a:r>
          </a:p>
          <a:p>
            <a:r>
              <a:rPr lang="en-US" dirty="0"/>
              <a:t>1. ONE thing they learned today they did not know before.</a:t>
            </a:r>
          </a:p>
          <a:p>
            <a:r>
              <a:rPr lang="en-US" dirty="0"/>
              <a:t>2. ONE question they still have.</a:t>
            </a:r>
          </a:p>
          <a:p>
            <a:r>
              <a:rPr lang="en-US" dirty="0"/>
              <a:t>Collect the notes as people leave. Read the questions tonight — address the most common</a:t>
            </a:r>
          </a:p>
          <a:p>
            <a:r>
              <a:rPr lang="en-US" dirty="0"/>
              <a:t>ones at the start of Day 2.</a:t>
            </a:r>
          </a:p>
          <a:p>
            <a:r>
              <a:rPr lang="en-US" dirty="0"/>
              <a:t/>
            </a:r>
          </a:p>
          <a:p>
            <a:r>
              <a:rPr lang="en-US" dirty="0"/>
              <a:t>PRE-WORK FOR TOMORROW (tell them this clearly):</a:t>
            </a:r>
          </a:p>
          <a:p>
            <a:r>
              <a:rPr lang="en-US" dirty="0"/>
              <a:t>"Before tomorrow morning, I need you to do ONE thing:</a:t>
            </a:r>
          </a:p>
          <a:p>
            <a:r>
              <a:rPr lang="en-US" dirty="0"/>
              <a:t>Log into your AWS or Azure portal. Go to the billing or cost management section.</a:t>
            </a:r>
          </a:p>
          <a:p>
            <a:r>
              <a:rPr lang="en-US" dirty="0"/>
              <a:t>Look at this month's bill and write down the top 3 services by cost.</a:t>
            </a:r>
          </a:p>
          <a:p>
            <a:r>
              <a:rPr lang="en-US" dirty="0"/>
              <a:t>Do not analyse it — just look. We will use what you find in tomorrow's session."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CLOSING WORDS:</a:t>
            </a:r>
          </a:p>
          <a:p>
            <a:r>
              <a:rPr lang="en-US" dirty="0"/>
              <a:t>"You came in today not knowing what FinOps was. You are leaving with the definition,</a:t>
            </a:r>
          </a:p>
          <a:p>
            <a:r>
              <a:rPr lang="en-US" dirty="0"/>
              <a:t>the 6 principles, the 3 phases, and a real lab experience.</a:t>
            </a:r>
          </a:p>
          <a:p>
            <a:r>
              <a:rPr lang="en-US" dirty="0"/>
              <a:t>Tomorrow we go deeper. We get into the tools. We build actual dashboards.</a:t>
            </a:r>
          </a:p>
          <a:p>
            <a:r>
              <a:rPr lang="en-US" dirty="0"/>
              <a:t>Get some rest — Day 2 is hands-on from the start."</a:t>
            </a:r>
          </a:p>
          <a:p>
            <a:r>
              <a:rPr lang="en-US" dirty="0"/>
              <a:t/>
            </a:r>
          </a:p>
          <a:p>
            <a:r>
              <a:rPr lang="en-US" dirty="0"/>
              <a:t>AFTER CLASS:</a:t>
            </a:r>
          </a:p>
          <a:p>
            <a:r>
              <a:rPr lang="en-US" dirty="0"/>
              <a:t>- Read the exit ticket questions.</a:t>
            </a:r>
          </a:p>
          <a:p>
            <a:r>
              <a:rPr lang="en-US" dirty="0"/>
              <a:t>- Prepare an answer for the top 3 most common questions to open Day 2.</a:t>
            </a:r>
          </a:p>
          <a:p>
            <a:r>
              <a:rPr lang="en-US" dirty="0"/>
              <a:t>- Check that everyone has access to the cloud console they need for tomorrow's lab.</a:t>
            </a:r>
          </a:p>
          <a:p>
            <a:r>
              <a:rPr lang="en-US" dirty="0"/>
              <a:t>- Send a brief WhatsApp or email reminder about the pre-work.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88952" cy="6858000"/>
          </ns1:xfrm>
          <ns1:prstGeom prst="rect">
            <ns1:avLst/>
          </ns1:prstGeom>
          <ns1:solidFill>
            <ns1:srgbClr val="0D213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46304" cy="6858000"/>
          </ns1:xfrm>
          <ns1:prstGeom prst="rect">
            <ns1:avLst/>
          </ns1:prstGeom>
          <ns1:solidFill>
            <ns1:srgbClr val="0F6E5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0" y="5029200"/>
            <ns1:ext cx="12188952" cy="1828800"/>
          </ns1:xfrm>
          <ns1:prstGeom prst="rect">
            <ns1:avLst/>
          </ns1:prstGeom>
          <ns1:solidFill>
            <ns1:srgbClr val="0F6E5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57200" y="502920"/>
            <ns1:ext cx="3657600" cy="41148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100" b="1" i="0">
                <ns1:solidFill>
                  <ns1:srgbClr val="9FE1CB"/>
                </ns1:solidFill>
                <ns1:latin typeface="Calibri"/>
              </ns1:rPr>
              <ns1:t>DAY 1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457200" y="960120"/>
            <ns1:ext cx="10972800" cy="100584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4600" b="1" i="0">
                <ns1:solidFill>
                  <ns1:srgbClr val="FFFFFF"/>
                </ns1:solidFill>
                <ns1:latin typeface="Calibri"/>
              </ns1:rPr>
              <ns1:t>Introduction to FinOps</ns1:t>
            </ns1:r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457200" y="1920240"/>
            <ns1:ext cx="10972800" cy="73152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3200" b="0" i="0">
                <ns1:solidFill>
                  <ns1:srgbClr val="9FE1CB"/>
                </ns1:solidFill>
                <ns1:latin typeface="Calibri"/>
              </ns1:rPr>
              <ns1:t>&amp; Cloud Financial Management</ns1:t>
            </ns1:r>
          </ns1:p>
        </ns0:txBody>
      </ns0:sp>
      <ns0:sp>
        <ns0:nvSpPr>
          <ns0:cNvPr id="8" name="Rectangle 7"/>
          <ns0:cNvSpPr/>
          <ns0:nvPr/>
        </ns0:nvSpPr>
        <ns0:spPr>
          <ns1:xfrm>
            <ns1:off x="457200" y="2834640"/>
            <ns1:ext cx="6858000" cy="45720"/>
          </ns1:xfrm>
          <ns1:prstGeom prst="rect">
            <ns1:avLst/>
          </ns1:prstGeom>
          <ns1:solidFill>
            <ns1:srgbClr val="1D9E75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457200" y="3017520"/>
            <ns1:ext cx="822960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300" b="0" i="0">
                <ns1:solidFill>
                  <ns1:srgbClr val="888780"/>
                </ns1:solidFill>
                <ns1:latin typeface="Calibri"/>
              </ns1:rPr>
              <ns1:t>LAPO Microfinance Bank  ·  2025/2026 FinOps Framework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40080" y="5138928"/>
            <ns1:ext cx="45720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ctr"/>
            <ns1:r>
              <ns1:rPr sz="1100" b="1" i="0">
                <ns1:solidFill>
                  <ns1:srgbClr val="FFFFFF"/>
                </ns1:solidFill>
                <ns1:latin typeface="Calibri"/>
              </ns1:rPr>
              <ns1:t>01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1024127" y="5138928"/>
            <ns1:ext cx="173736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100" b="0" i="0">
                <ns1:solidFill>
                  <ns1:srgbClr val="FFFFFF"/>
                </ns1:solidFill>
                <ns1:latin typeface="Calibri"/>
              </ns1:rPr>
              <ns1:t>What is FinOps?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2880360" y="5138928"/>
            <ns1:ext cx="45720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ctr"/>
            <ns1:r>
              <ns1:rPr sz="1100" b="1" i="0">
                <ns1:solidFill>
                  <ns1:srgbClr val="FFFFFF"/>
                </ns1:solidFill>
                <ns1:latin typeface="Calibri"/>
              </ns1:rPr>
              <ns1:t>02</ns1:t>
            </ns1:r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3264408" y="5138928"/>
            <ns1:ext cx="173736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100" b="0" i="0">
                <ns1:solidFill>
                  <ns1:srgbClr val="FFFFFF"/>
                </ns1:solidFill>
                <ns1:latin typeface="Calibri"/>
              </ns1:rPr>
              <ns1:t>The 6 Principles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5120640" y="5138928"/>
            <ns1:ext cx="45720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ctr"/>
            <ns1:r>
              <ns1:rPr sz="1100" b="1" i="0">
                <ns1:solidFill>
                  <ns1:srgbClr val="FFFFFF"/>
                </ns1:solidFill>
                <ns1:latin typeface="Calibri"/>
              </ns1:rPr>
              <ns1:t>03</ns1:t>
            </ns1:r>
          </ns1:p>
        </ns0:txBody>
      </ns0:sp>
      <ns0:sp>
        <ns0:nvSpPr>
          <ns0:cNvPr id="15" name="TextBox 14"/>
          <ns0:cNvSpPr txBox="1"/>
          <ns0:nvPr/>
        </ns0:nvSpPr>
        <ns0:spPr>
          <ns1:xfrm>
            <ns1:off x="5504688" y="5138928"/>
            <ns1:ext cx="173736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100" b="0" i="0">
                <ns1:solidFill>
                  <ns1:srgbClr val="FFFFFF"/>
                </ns1:solidFill>
                <ns1:latin typeface="Calibri"/>
              </ns1:rPr>
              <ns1:t>The 3 Phases</ns1:t>
            </ns1:r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7360920" y="5138928"/>
            <ns1:ext cx="45720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ctr"/>
            <ns1:r>
              <ns1:rPr sz="1100" b="1" i="0">
                <ns1:solidFill>
                  <ns1:srgbClr val="FFFFFF"/>
                </ns1:solidFill>
                <ns1:latin typeface="Calibri"/>
              </ns1:rPr>
              <ns1:t>04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7744968" y="5138928"/>
            <ns1:ext cx="173736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100" b="0" i="0">
                <ns1:solidFill>
                  <ns1:srgbClr val="FFFFFF"/>
                </ns1:solidFill>
                <ns1:latin typeface="Calibri"/>
              </ns1:rPr>
              <ns1:t>Business Case &amp; Governance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9601200" y="5138928"/>
            <ns1:ext cx="45720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ctr"/>
            <ns1:r>
              <ns1:rPr sz="1100" b="1" i="0">
                <ns1:solidFill>
                  <ns1:srgbClr val="FFFFFF"/>
                </ns1:solidFill>
                <ns1:latin typeface="Calibri"/>
              </ns1:rPr>
              <ns1:t>05</ns1:t>
            </ns1:r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9985248" y="5138928"/>
            <ns1:ext cx="173736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100" b="0" i="0">
                <ns1:solidFill>
                  <ns1:srgbClr val="FFFFFF"/>
                </ns1:solidFill>
                <ns1:latin typeface="Calibri"/>
              </ns1:rPr>
              <ns1:t>Hands-on Lab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11247120" y="6492240"/>
            <ns1:ext cx="822960" cy="27432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r"/>
            <ns1:r>
              <ns1:rPr sz="900" b="0" i="0">
                <ns1:solidFill>
                  <ns1:srgbClr val="888780"/>
                </ns1:solidFill>
                <ns1:latin typeface="Calibri"/>
              </ns1:rPr>
              <ns1:t>1 / 10</ns1:t>
            </ns1:r>
          </ns1:p>
        </ns0:txBody>
      </ns0:sp>
    </ns0:spTree>
  </ns0:cSld>
  <ns0:clrMapOvr>
    <ns1:masterClrMapping/>
  </ns0:clrMapOvr>
</ns0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201168"/>
            <a:ext cx="105156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is FinOps?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371600"/>
            <a:ext cx="114300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1">
                <a:solidFill>
                  <a:srgbClr val="888780"/>
                </a:solidFill>
                <a:latin typeface="Calibri"/>
              </a:rPr>
              <a:t>A simple definition before anything else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1247120" cy="1371600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09728" cy="13716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10835640" cy="11887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450" b="0" i="1">
                <a:solidFill>
                  <a:srgbClr val="0D2137"/>
                </a:solidFill>
                <a:latin typeface="Calibri"/>
              </a:rPr>
              <a:t>"FinOps is the practice of bringing financial accountability to cloud spending by enabling engineering, finance, and business teams to collaborate on data-driven decisions."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0" i="0">
                <a:solidFill>
                  <a:srgbClr val="BA7517"/>
                </a:solidFill>
                <a:latin typeface="Calibri"/>
              </a:rPr>
              <a:t>💡  Simple analogy:  DevOps = deploy fast.   FinOps = deploy fast without bleeding money.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05072"/>
            <a:ext cx="3657600" cy="2350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005072"/>
            <a:ext cx="3657600" cy="53035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365760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45152"/>
            <a:ext cx="3383280" cy="1463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0" i="0">
                <a:solidFill>
                  <a:srgbClr val="444441"/>
                </a:solidFill>
                <a:latin typeface="Calibri"/>
              </a:rPr>
              <a:t>Engineering + Finance
+ Business collaborate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4005072"/>
            <a:ext cx="3657600" cy="2350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4005072"/>
            <a:ext cx="3657600" cy="530352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4023360"/>
            <a:ext cx="365760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4645152"/>
            <a:ext cx="3383280" cy="1463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0" i="0">
                <a:solidFill>
                  <a:srgbClr val="444441"/>
                </a:solidFill>
                <a:latin typeface="Calibri"/>
              </a:rPr>
              <a:t>Inform → Optimize
→ Operate lifecycle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4005072"/>
            <a:ext cx="3657600" cy="2350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84464" y="4005072"/>
            <a:ext cx="3657600" cy="530352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4023360"/>
            <a:ext cx="365760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TECHNOLOGY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4645152"/>
            <a:ext cx="3383280" cy="1463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300" b="0" i="0">
                <a:solidFill>
                  <a:srgbClr val="444441"/>
                </a:solidFill>
                <a:latin typeface="Calibri"/>
              </a:rPr>
              <a:t>Cloud tools, dashboards
&amp; 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201168"/>
            <a:ext cx="105156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FinOps ≠ Just Cutting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371600"/>
            <a:ext cx="114300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1">
                <a:solidFill>
                  <a:srgbClr val="888780"/>
                </a:solidFill>
                <a:latin typeface="Calibri"/>
              </a:rPr>
              <a:t>Bust these myths early — your audience may believe all three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166360" cy="1389888"/>
          </a:xfrm>
          <a:prstGeom prst="rect">
            <a:avLst/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822960" cy="1389888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67128"/>
            <a:ext cx="8229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MYTH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92808"/>
            <a:ext cx="4069080" cy="10058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1">
                <a:solidFill>
                  <a:srgbClr val="993C1D"/>
                </a:solidFill>
                <a:latin typeface="Calibri"/>
              </a:rPr>
              <a:t>"FinOps is just about reducing the cloud bill."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2432" y="214884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 i="0">
                <a:solidFill>
                  <a:srgbClr val="0F6E56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5422392" cy="1389888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91640"/>
            <a:ext cx="822960" cy="138988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12264"/>
            <a:ext cx="822960" cy="51206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856232"/>
            <a:ext cx="434340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0D2137"/>
                </a:solidFill>
                <a:latin typeface="Calibri"/>
              </a:rPr>
              <a:t>FinOps maximises BUSINESS VALUE. Sometimes spending MORE is the right call — if it drives more loans, customers, or faster delivery.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5166360" cy="1389888"/>
          </a:xfrm>
          <a:prstGeom prst="rect">
            <a:avLst/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822960" cy="1389888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67328"/>
            <a:ext cx="8229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MYTH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93008"/>
            <a:ext cx="4069080" cy="10058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1">
                <a:solidFill>
                  <a:srgbClr val="993C1D"/>
                </a:solidFill>
                <a:latin typeface="Calibri"/>
              </a:rPr>
              <a:t>"Finance should own cloud costs."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3749039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 i="0">
                <a:solidFill>
                  <a:srgbClr val="0F6E56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91840"/>
            <a:ext cx="5422392" cy="1389888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291840"/>
            <a:ext cx="822960" cy="138988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712464"/>
            <a:ext cx="822960" cy="51206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3456432"/>
            <a:ext cx="434340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0D2137"/>
                </a:solidFill>
                <a:latin typeface="Calibri"/>
              </a:rPr>
              <a:t>Every team that deploys resources owns its cost. FinOps creates shared accountability — not a finance police department.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92040"/>
            <a:ext cx="5166360" cy="1389888"/>
          </a:xfrm>
          <a:prstGeom prst="rect">
            <a:avLst/>
          </a:prstGeom>
          <a:solidFill>
            <a:srgbClr val="FAE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92040"/>
            <a:ext cx="822960" cy="1389888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67527"/>
            <a:ext cx="82296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MYTH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093207"/>
            <a:ext cx="4069080" cy="10058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1">
                <a:solidFill>
                  <a:srgbClr val="993C1D"/>
                </a:solidFill>
                <a:latin typeface="Calibri"/>
              </a:rPr>
              <a:t>"FinOps is a one-time project."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2" y="534924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 i="0">
                <a:solidFill>
                  <a:srgbClr val="0F6E56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892040"/>
            <a:ext cx="5422392" cy="1389888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892040"/>
            <a:ext cx="822960" cy="1389888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5312664"/>
            <a:ext cx="822960" cy="51206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5056631"/>
            <a:ext cx="4343400" cy="10789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0">
                <a:solidFill>
                  <a:srgbClr val="0D2137"/>
                </a:solidFill>
                <a:latin typeface="Calibri"/>
              </a:rPr>
              <a:t>FinOps is continuous — like DevOps. You run Inform → Optimize → Operate every month, indefinitely.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201168"/>
            <a:ext cx="105156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6 FinOps Principles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371600"/>
            <a:ext cx="114300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1">
                <a:solidFill>
                  <a:srgbClr val="888780"/>
                </a:solidFill>
                <a:latin typeface="Calibri"/>
              </a:rPr>
              <a:t>These are the values behind every FinOps decision — memorise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34747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640080" cy="2084831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404872"/>
            <a:ext cx="64008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01368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0D2137"/>
                </a:solidFill>
                <a:latin typeface="Calibri"/>
              </a:rPr>
              <a:t>Collaborate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86000"/>
            <a:ext cx="260604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Engineering, Finance &amp; Business work together — no silos.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691640"/>
            <a:ext cx="34747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1691640"/>
            <a:ext cx="640080" cy="2084831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2404872"/>
            <a:ext cx="64008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801368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0D2137"/>
                </a:solidFill>
                <a:latin typeface="Calibri"/>
              </a:rPr>
              <a:t>Everyone Owns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286000"/>
            <a:ext cx="260604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The team that deploys a resource is responsible for its cost.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691640"/>
            <a:ext cx="34747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09560" y="1691640"/>
            <a:ext cx="640080" cy="2084831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2404872"/>
            <a:ext cx="64008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801368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0D2137"/>
                </a:solidFill>
                <a:latin typeface="Calibri"/>
              </a:rPr>
              <a:t>FinOps Enables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286000"/>
            <a:ext cx="260604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FinOps team is a coach and facilitator — not a cost police.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23360"/>
            <a:ext cx="34747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23360"/>
            <a:ext cx="640080" cy="2084831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736592"/>
            <a:ext cx="64008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133088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0D2137"/>
                </a:solidFill>
                <a:latin typeface="Calibri"/>
              </a:rPr>
              <a:t>Timely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17720"/>
            <a:ext cx="260604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Real-time cost visibility for everyone. No month-end surprises.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023360"/>
            <a:ext cx="34747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4023360"/>
            <a:ext cx="640080" cy="2084831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4736592"/>
            <a:ext cx="64008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4133088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0D2137"/>
                </a:solidFill>
                <a:latin typeface="Calibri"/>
              </a:rPr>
              <a:t>Business Value First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617720"/>
            <a:ext cx="260604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ROI and business impact matter more than just cutting the bill.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4023360"/>
            <a:ext cx="3474720" cy="20848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09560" y="4023360"/>
            <a:ext cx="640080" cy="2084831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4736592"/>
            <a:ext cx="640080" cy="56692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4133088"/>
            <a:ext cx="260604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50" b="1" i="0">
                <a:solidFill>
                  <a:srgbClr val="0D2137"/>
                </a:solidFill>
                <a:latin typeface="Calibri"/>
              </a:rPr>
              <a:t>Variable Cost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4617720"/>
            <a:ext cx="2606040" cy="1325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Cloud is pay-as-you-go — treat that flexibility as a strategy.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201168"/>
            <a:ext cx="105156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FinOps Lifecycle: 3 Phases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371600"/>
            <a:ext cx="114300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1">
                <a:solidFill>
                  <a:srgbClr val="888780"/>
                </a:solidFill>
                <a:latin typeface="Calibri"/>
              </a:rPr>
              <a:t>Days 2, 3 and 4 each cover one phase — this is your course backbone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91640"/>
            <a:ext cx="36118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3611880" cy="9144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09928"/>
            <a:ext cx="3611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INFORM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67712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Visibility &amp; Allocation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737360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737360"/>
            <a:ext cx="10058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0F6E56"/>
                </a:solidFill>
                <a:latin typeface="Calibri"/>
              </a:rPr>
              <a:t>Day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24912"/>
            <a:ext cx="3337560" cy="2423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What are we spending?</a:t>
            </a:r>
          </a:p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Who owns which resource?</a:t>
            </a:r>
          </a:p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Which team drives which cost?</a:t>
            </a:r>
          </a:p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Build cost dashboards &amp; reports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989320"/>
            <a:ext cx="3611880" cy="3657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989320"/>
            <a:ext cx="3429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Calibri"/>
              </a:rPr>
              <a:t>Without visibility, optimization is impossible.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691640"/>
            <a:ext cx="36118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691640"/>
            <a:ext cx="3611880" cy="914400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1709928"/>
            <a:ext cx="3611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OPTIMIZE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267712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1737360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737360"/>
            <a:ext cx="10058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3C3489"/>
                </a:solidFill>
                <a:latin typeface="Calibri"/>
              </a:rPr>
              <a:t>Day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724912"/>
            <a:ext cx="3337560" cy="2423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Where is the waste?</a:t>
            </a:r>
          </a:p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What can we rightsize?</a:t>
            </a:r>
          </a:p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Which discounts should we commit to?</a:t>
            </a:r>
          </a:p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Cut cost without cutting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5989320"/>
            <a:ext cx="3611880" cy="365760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5989320"/>
            <a:ext cx="3429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Calibri"/>
              </a:rPr>
              <a:t>Eliminate waste. Match spend to actual need.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1691640"/>
            <a:ext cx="361188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1691640"/>
            <a:ext cx="3611880" cy="914400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9" y="1709928"/>
            <a:ext cx="361188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OPERATE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2267712"/>
            <a:ext cx="36118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Calibri"/>
              </a:rPr>
              <a:t>Governance &amp; Control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9919" y="1737360"/>
            <a:ext cx="10058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19" y="1737360"/>
            <a:ext cx="1005840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00" b="1" i="0">
                <a:solidFill>
                  <a:srgbClr val="993C1D"/>
                </a:solidFill>
                <a:latin typeface="Calibri"/>
              </a:rPr>
              <a:t>Day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724912"/>
            <a:ext cx="3337560" cy="24231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Who is accountable for what?</a:t>
            </a:r>
          </a:p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What are our budgets &amp; alerts?</a:t>
            </a:r>
          </a:p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How do we forecast?</a:t>
            </a:r>
          </a:p>
          <a:p>
            <a:pPr algn="l" indent="-201168" marL="201168">
              <a:buChar char="▸"/>
              <a:spcAft>
                <a:spcPts val="400"/>
              </a:spcAft>
            </a:pPr>
            <a:r>
              <a:rPr sz="1250">
                <a:solidFill>
                  <a:srgbClr val="444441"/>
                </a:solidFill>
                <a:latin typeface="Calibri"/>
              </a:rPr>
              <a:t>Are we CBN-compliant?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5989320"/>
            <a:ext cx="3611880" cy="365760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5989320"/>
            <a:ext cx="3429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50" b="0" i="1">
                <a:solidFill>
                  <a:srgbClr val="FFFFFF"/>
                </a:solidFill>
                <a:latin typeface="Calibri"/>
              </a:rPr>
              <a:t>Make FinOps continuous, not a one-off project.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3657600"/>
            <a:ext cx="45720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D3D1C7"/>
                </a:solidFill>
                <a:latin typeface="Calibr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657600"/>
            <a:ext cx="457200" cy="5486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600" b="1" i="0">
                <a:solidFill>
                  <a:srgbClr val="D3D1C7"/>
                </a:solidFill>
                <a:latin typeface="Calibri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201168"/>
            <a:ext cx="105156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Who Is Involved in FinOps?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371600"/>
            <a:ext cx="114300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1">
                <a:solidFill>
                  <a:srgbClr val="888780"/>
                </a:solidFill>
                <a:latin typeface="Calibri"/>
              </a:rPr>
              <a:t>Every person in this room has a role — let's identify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566160" cy="5486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5661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FinOps Practitioner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95728"/>
            <a:ext cx="3346704" cy="1234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50" b="0" i="0">
                <a:solidFill>
                  <a:srgbClr val="444441"/>
                </a:solidFill>
                <a:latin typeface="Calibri"/>
              </a:rPr>
              <a:t>Owns the FinOps practice.
Sets standards, tools &amp; reporting.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737360"/>
            <a:ext cx="3566160" cy="54864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783080"/>
            <a:ext cx="35661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FinOps Champion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395728"/>
            <a:ext cx="3346704" cy="1234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50" b="0" i="0">
                <a:solidFill>
                  <a:srgbClr val="444441"/>
                </a:solidFill>
                <a:latin typeface="Calibri"/>
              </a:rPr>
              <a:t>Embedded in each team.
Your local FinOps ambassador.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37360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566160" cy="548640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5661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Cloud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395728"/>
            <a:ext cx="3346704" cy="1234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50" b="0" i="0">
                <a:solidFill>
                  <a:srgbClr val="444441"/>
                </a:solidFill>
                <a:latin typeface="Calibri"/>
              </a:rPr>
              <a:t>Implements optimisations.
Enforces tagging standards.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69079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069079"/>
            <a:ext cx="3566160" cy="54864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799"/>
            <a:ext cx="35661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Finance / Procurement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727447"/>
            <a:ext cx="3346704" cy="1234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50" b="0" i="0">
                <a:solidFill>
                  <a:srgbClr val="444441"/>
                </a:solidFill>
                <a:latin typeface="Calibri"/>
              </a:rPr>
              <a:t>Manages budgets, forecasts
&amp; vendor contracts.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069079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4069079"/>
            <a:ext cx="3566160" cy="548640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4114799"/>
            <a:ext cx="35661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Product 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727447"/>
            <a:ext cx="3346704" cy="1234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50" b="0" i="0">
                <a:solidFill>
                  <a:srgbClr val="444441"/>
                </a:solidFill>
                <a:latin typeface="Calibri"/>
              </a:rPr>
              <a:t>Makes cost vs. feature
trade-off decisions.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069079"/>
            <a:ext cx="35661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4069079"/>
            <a:ext cx="3566160" cy="5486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114799"/>
            <a:ext cx="3566160" cy="47548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Leadership / CISO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4727447"/>
            <a:ext cx="3346704" cy="1234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50" b="0" i="0">
                <a:solidFill>
                  <a:srgbClr val="444441"/>
                </a:solidFill>
                <a:latin typeface="Calibri"/>
              </a:rPr>
              <a:t>Sets policy, approves budgets,
ensures CBN compliance.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88952" cy="6858000"/>
          </ns1:xfrm>
          <ns1:prstGeom prst="rect">
            <ns1:avLst/>
          </ns1:prstGeom>
          <ns1:solidFill>
            <ns1:srgbClr val="F1EFE8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2188952" cy="1234440"/>
          </ns1:xfrm>
          <ns1:prstGeom prst="rect">
            <ns1:avLst/>
          </ns1:prstGeom>
          <ns1:solidFill>
            <ns1:srgbClr val="0D213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Rectangle 3"/>
          <ns0:cNvSpPr/>
          <ns0:nvPr/>
        </ns0:nvSpPr>
        <ns0:spPr>
          <ns1:xfrm>
            <ns1:off x="0" y="0"/>
            <ns1:ext cx="146304" cy="6858000"/>
          </ns1:xfrm>
          <ns1:prstGeom prst="rect">
            <ns1:avLst/>
          </ns1:prstGeom>
          <ns1:solidFill>
            <ns1:srgbClr val="0F6E5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420624" y="201168"/>
            <ns1:ext cx="10515600" cy="68580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3000" b="1" i="0">
                <ns1:solidFill>
                  <ns1:srgbClr val="FFFFFF"/>
                </ns1:solidFill>
                <ns1:latin typeface="Calibri"/>
              </ns1:rPr>
              <ns1:t>Business Case &amp; Governance</ns1:t>
            </ns1:r>
          </ns1:p>
        </ns0:txBody>
      </ns0:sp>
      <ns0:sp>
        <ns0:nvSpPr>
          <ns0:cNvPr id="6" name="TextBox 5"/>
          <ns0:cNvSpPr txBox="1"/>
          <ns0:nvPr/>
        </ns0:nvSpPr>
        <ns0:spPr>
          <ns1:xfrm>
            <ns1:off x="420624" y="1371600"/>
            <ns1:ext cx="11430000" cy="34747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250" b="0" i="1">
                <ns1:solidFill>
                  <ns1:srgbClr val="888780"/>
                </ns1:solidFill>
                <ns1:latin typeface="Calibri"/>
              </ns1:rPr>
              <ns1:t>Why FinOps is urgent for microfinance</ns1:t>
            </ns1:r>
          </ns1:p>
        </ns0:txBody>
      </ns0:sp>
      <ns0:sp>
        <ns0:nvSpPr>
          <ns0:cNvPr id="7" name="Rectangle 6"/>
          <ns0:cNvSpPr/>
          <ns0:nvPr/>
        </ns0:nvSpPr>
        <ns0:spPr>
          <ns1:xfrm>
            <ns1:off x="457200" y="1719072"/>
            <ns1:ext cx="5559552" cy="20574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8" name="Rectangle 7"/>
          <ns0:cNvSpPr/>
          <ns0:nvPr/>
        </ns0:nvSpPr>
        <ns0:spPr>
          <ns1:xfrm>
            <ns1:off x="457200" y="1719072"/>
            <ns1:ext cx="960120" cy="2057400"/>
          </ns1:xfrm>
          <ns1:prstGeom prst="rect">
            <ns1:avLst/>
          </ns1:prstGeom>
          <ns1:solidFill>
            <ns1:srgbClr val="0F6E5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TextBox 8"/>
          <ns0:cNvSpPr txBox="1"/>
          <ns0:nvPr/>
        </ns0:nvSpPr>
        <ns0:spPr>
          <ns1:xfrm>
            <ns1:off x="512064" y="2377439"/>
            <ns1:ext cx="868680" cy="71323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ctr"/>
            <ns1:r>
              <ns1:rPr sz="1150" b="1" i="0">
                <ns1:solidFill>
                  <ns1:srgbClr val="FFFFFF"/>
                </ns1:solidFill>
                <ns1:latin typeface="Calibri"/>
              </ns1:rPr>
              <ns1:t>Thin Margins</ns1:t>
            </ns1:r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1554480" y="1920240"/>
            <ns1:ext cx="4315968" cy="160020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250" b="0" i="0">
                <ns1:solidFill>
                  <ns1:srgbClr val="444441"/>
                </ns1:solidFill>
                <ns1:latin typeface="Calibri"/>
              </ns1:rPr>
              <ns1:t>Small percentage savings materially improve sustainability and pricing.</ns1:t>
            </ns1:r>
          </ns1:p>
        </ns0:txBody>
      </ns0:sp>
      <ns0:sp>
        <ns0:nvSpPr>
          <ns0:cNvPr id="11" name="Rectangle 10"/>
          <ns0:cNvSpPr/>
          <ns0:nvPr/>
        </ns0:nvSpPr>
        <ns0:spPr>
          <ns1:xfrm>
            <ns1:off x="6327648" y="1719072"/>
            <ns1:ext cx="5559552" cy="20574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2" name="Rectangle 11"/>
          <ns0:cNvSpPr/>
          <ns0:nvPr/>
        </ns0:nvSpPr>
        <ns0:spPr>
          <ns1:xfrm>
            <ns1:off x="6327648" y="1719072"/>
            <ns1:ext cx="960120" cy="2057400"/>
          </ns1:xfrm>
          <ns1:prstGeom prst="rect">
            <ns1:avLst/>
          </ns1:prstGeom>
          <ns1:solidFill>
            <ns1:srgbClr val="3C348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6382512" y="2377439"/>
            <ns1:ext cx="868680" cy="71323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ctr"/>
            <ns1:r>
              <ns1:rPr sz="1150" b="1" i="0">
                <ns1:solidFill>
                  <ns1:srgbClr val="FFFFFF"/>
                </ns1:solidFill>
                <ns1:latin typeface="Calibri"/>
              </ns1:rPr>
              <ns1:t>Unit Economics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7424927" y="1920240"/>
            <ns1:ext cx="4315968" cy="160020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250" b="0" i="0">
                <ns1:solidFill>
                  <ns1:srgbClr val="444441"/>
                </ns1:solidFill>
                <ns1:latin typeface="Calibri"/>
              </ns1:rPr>
              <ns1:t>Track cost per loan, per transaction, and per active customer.</ns1:t>
            </ns1:r>
          </ns1:p>
        </ns0:txBody>
      </ns0:sp>
      <ns0:sp>
        <ns0:nvSpPr>
          <ns0:cNvPr id="15" name="Rectangle 14"/>
          <ns0:cNvSpPr/>
          <ns0:nvPr/>
        </ns0:nvSpPr>
        <ns0:spPr>
          <ns1:xfrm>
            <ns1:off x="457200" y="4050791"/>
            <ns1:ext cx="5559552" cy="20574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Rectangle 15"/>
          <ns0:cNvSpPr/>
          <ns0:nvPr/>
        </ns0:nvSpPr>
        <ns0:spPr>
          <ns1:xfrm>
            <ns1:off x="457200" y="4050791"/>
            <ns1:ext cx="960120" cy="2057400"/>
          </ns1:xfrm>
          <ns1:prstGeom prst="rect">
            <ns1:avLst/>
          </ns1:prstGeom>
          <ns1:solidFill>
            <ns1:srgbClr val="BA751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512064" y="4709159"/>
            <ns1:ext cx="868680" cy="71323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ctr"/>
            <ns1:r>
              <ns1:rPr sz="1150" b="1" i="0">
                <ns1:solidFill>
                  <ns1:srgbClr val="FFFFFF"/>
                </ns1:solidFill>
                <ns1:latin typeface="Calibri"/>
              </ns1:rPr>
              <ns1:t>Regulatory Audit</ns1:t>
            </ns1:r>
          </ns1:p>
        </ns0:txBody>
      </ns0:sp>
      <ns0:sp>
        <ns0:nvSpPr>
          <ns0:cNvPr id="18" name="TextBox 17"/>
          <ns0:cNvSpPr txBox="1"/>
          <ns0:nvPr/>
        </ns0:nvSpPr>
        <ns0:spPr>
          <ns1:xfrm>
            <ns1:off x="1554480" y="4251959"/>
            <ns1:ext cx="4315968" cy="160020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250" b="0" i="0">
                <ns1:solidFill>
                  <ns1:srgbClr val="444441"/>
                </ns1:solidFill>
                <ns1:latin typeface="Calibri"/>
              </ns1:rPr>
              <ns1:t>CBN compliance needs clear approval trails and spend accountability.</ns1:t>
            </ns1:r>
          </ns1:p>
        </ns0:txBody>
      </ns0:sp>
      <ns0:sp>
        <ns0:nvSpPr>
          <ns0:cNvPr id="19" name="Rectangle 18"/>
          <ns0:cNvSpPr/>
          <ns0:nvPr/>
        </ns0:nvSpPr>
        <ns0:spPr>
          <ns1:xfrm>
            <ns1:off x="6327648" y="4050791"/>
            <ns1:ext cx="5559552" cy="2057400"/>
          </ns1:xfrm>
          <ns1:prstGeom prst="rect">
            <ns1:avLst/>
          </ns1:prstGeom>
          <ns1:solidFill>
            <ns1:srgbClr val="FFFFFF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0" name="Rectangle 19"/>
          <ns0:cNvSpPr/>
          <ns0:nvPr/>
        </ns0:nvSpPr>
        <ns0:spPr>
          <ns1:xfrm>
            <ns1:off x="6327648" y="4050791"/>
            <ns1:ext cx="960120" cy="2057400"/>
          </ns1:xfrm>
          <ns1:prstGeom prst="rect">
            <ns1:avLst/>
          </ns1:prstGeom>
          <ns1:solidFill>
            <ns1:srgbClr val="993C1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1" name="TextBox 20"/>
          <ns0:cNvSpPr txBox="1"/>
          <ns0:nvPr/>
        </ns0:nvSpPr>
        <ns0:spPr>
          <ns1:xfrm>
            <ns1:off x="6382512" y="4709159"/>
            <ns1:ext cx="868680" cy="713232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ctr"/>
            <ns1:r>
              <ns1:rPr sz="1150" b="1" i="0">
                <ns1:solidFill>
                  <ns1:srgbClr val="FFFFFF"/>
                </ns1:solidFill>
                <ns1:latin typeface="Calibri"/>
              </ns1:rPr>
              <ns1:t>Data Residency</ns1:t>
            </ns1:r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7424927" y="4251959"/>
            <ns1:ext cx="4315968" cy="160020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250" b="0" i="0">
                <ns1:solidFill>
                  <ns1:srgbClr val="444441"/>
                </ns1:solidFill>
                <ns1:latin typeface="Calibri"/>
              </ns1:rPr>
              <ns1:t>Region constraints increase costs; plan them explicitly in budgets.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11247120" y="6492240"/>
            <ns1:ext cx="822960" cy="27432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r"/>
            <ns1:r>
              <ns1:rPr sz="900" b="0" i="0">
                <ns1:solidFill>
                  <ns1:srgbClr val="888780"/>
                </ns1:solidFill>
                <ns1:latin typeface="Calibri"/>
              </ns1:rPr>
              <ns1:t>7 / 10</ns1:t>
            </ns1:r>
          </ns1:p>
        </ns0:txBody>
      </ns0:sp>
    </ns0:spTree>
  </ns0:cSld>
  <ns0:clrMapOvr>
    <ns1:masterClrMapping/>
  </ns0:clrMapOvr>
</ns0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201168"/>
            <a:ext cx="105156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Key Terms to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371600"/>
            <a:ext cx="114300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1">
                <a:solidFill>
                  <a:srgbClr val="888780"/>
                </a:solidFill>
                <a:latin typeface="Calibri"/>
              </a:rPr>
              <a:t>Write every single one of these down — they appear in every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19072"/>
            <a:ext cx="5559552" cy="82296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19072"/>
            <a:ext cx="91440" cy="8229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73936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Cloud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9696"/>
            <a:ext cx="5230368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Total money paid to cloud providers (AWS / Azure / GCP).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719072"/>
            <a:ext cx="5559552" cy="82296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1719072"/>
            <a:ext cx="91440" cy="8229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773936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Chargeback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139696"/>
            <a:ext cx="5230368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Allocating actual cloud costs back to a business unit's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70048"/>
            <a:ext cx="5559552" cy="82296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670048"/>
            <a:ext cx="91440" cy="82296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24912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Showback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090672"/>
            <a:ext cx="5230368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Reporting costs to teams without actually charging their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1928" y="2670048"/>
            <a:ext cx="5559552" cy="82296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2670048"/>
            <a:ext cx="91440" cy="822960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2724912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Unit 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3090672"/>
            <a:ext cx="5230368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Cost per business outcome — e.g. cost per loan disbursed.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21024"/>
            <a:ext cx="5559552" cy="82296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621024"/>
            <a:ext cx="91440" cy="822960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675887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FinOps Champion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041648"/>
            <a:ext cx="5230368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Team-level person responsible for FinOps in their area.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3621024"/>
            <a:ext cx="5559552" cy="82296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3621024"/>
            <a:ext cx="91440" cy="822960"/>
          </a:xfrm>
          <a:prstGeom prst="rect">
            <a:avLst/>
          </a:prstGeom>
          <a:solidFill>
            <a:srgbClr val="3C3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675887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Tagging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4041648"/>
            <a:ext cx="5230368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Key-value labels on resources — e.g. Team=LendingEng.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572000"/>
            <a:ext cx="5559552" cy="82296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572000"/>
            <a:ext cx="91440" cy="82296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626864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Reserved Instance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992624"/>
            <a:ext cx="5230368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Discounted pricing for committing to a resource for 1–3 years.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1928" y="4572000"/>
            <a:ext cx="5559552" cy="82296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81928" y="4572000"/>
            <a:ext cx="91440" cy="82296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626864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Anomaly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992624"/>
            <a:ext cx="5230368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An unexpected spike or drop in cloud spend needing investigation.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5522976"/>
            <a:ext cx="5559552" cy="82296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5522976"/>
            <a:ext cx="91440" cy="822960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577840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Rightsizing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943600"/>
            <a:ext cx="5230368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Changing a resource to the size that matches actual usage.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81928" y="5522976"/>
            <a:ext cx="5559552" cy="82296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1928" y="5522976"/>
            <a:ext cx="91440" cy="822960"/>
          </a:xfrm>
          <a:prstGeom prst="rect">
            <a:avLst/>
          </a:prstGeom>
          <a:solidFill>
            <a:srgbClr val="993C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64808" y="5577840"/>
            <a:ext cx="1920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1" i="0">
                <a:solidFill>
                  <a:srgbClr val="0D2137"/>
                </a:solidFill>
                <a:latin typeface="Calibri"/>
              </a:rPr>
              <a:t>Cost Allocation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64808" y="5943600"/>
            <a:ext cx="5230368" cy="32918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444441"/>
                </a:solidFill>
                <a:latin typeface="Calibri"/>
              </a:rPr>
              <a:t>Assigning cloud costs to specific teams, products, or projects.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201168"/>
            <a:ext cx="1097280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Hands-on Lab: Map LAPO MfB Cloud Spend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371600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50" b="0" i="1">
                <a:solidFill>
                  <a:srgbClr val="888780"/>
                </a:solidFill>
                <a:latin typeface="Calibri"/>
              </a:rPr>
              <a:t>Group Exercise  ·  30 minutes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11247120" cy="749808"/>
          </a:xfrm>
          <a:prstGeom prst="rect">
            <a:avLst/>
          </a:prstGeom>
          <a:solidFill>
            <a:srgbClr val="E1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09728" cy="74980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47088"/>
            <a:ext cx="1083564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1">
                <a:solidFill>
                  <a:srgbClr val="0D2137"/>
                </a:solidFill>
                <a:latin typeface="Calibri"/>
              </a:rPr>
              <a:t>Scenario: You are the new FinOps team at LAPO MfB. You have been handed last month's cloud bill summary. Make sense of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24912"/>
            <a:ext cx="11247120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24912"/>
            <a:ext cx="1280160" cy="859536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34640"/>
            <a:ext cx="128016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Step 1
Categorise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907792"/>
            <a:ext cx="96926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0">
                <a:solidFill>
                  <a:srgbClr val="444441"/>
                </a:solidFill>
                <a:latin typeface="Calibri"/>
              </a:rPr>
              <a:t>Group all cloud services into: Compute · Storage · Networking · Database · Analytics · Security · Other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12464"/>
            <a:ext cx="11247120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12464"/>
            <a:ext cx="1280160" cy="859536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822192"/>
            <a:ext cx="128016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Step 2
Assign Owners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895344"/>
            <a:ext cx="96926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0">
                <a:solidFill>
                  <a:srgbClr val="444441"/>
                </a:solidFill>
                <a:latin typeface="Calibri"/>
              </a:rPr>
              <a:t>For each category, identify which LAPO team likely owns it: IT · Loans · Risk · Finance ·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00016"/>
            <a:ext cx="11247120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700016"/>
            <a:ext cx="1280160" cy="859536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09744"/>
            <a:ext cx="128016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Step 3
Find the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882896"/>
            <a:ext cx="96926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0">
                <a:solidFill>
                  <a:srgbClr val="444441"/>
                </a:solidFill>
                <a:latin typeface="Calibri"/>
              </a:rPr>
              <a:t>Which categories have NO obvious owner? Mark them — these 'accountability gaps' are where FinOps begins.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687568"/>
            <a:ext cx="11247120" cy="8595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687568"/>
            <a:ext cx="1280160" cy="859536"/>
          </a:xfrm>
          <a:prstGeom prst="rect">
            <a:avLst/>
          </a:prstGeom>
          <a:solidFill>
            <a:srgbClr val="0D2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797296"/>
            <a:ext cx="1280160" cy="621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Step 4
Present 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870448"/>
            <a:ext cx="969264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300" b="0" i="0">
                <a:solidFill>
                  <a:srgbClr val="444441"/>
                </a:solidFill>
                <a:latin typeface="Calibri"/>
              </a:rPr>
              <a:t>Each group shares: Top 2 cost categories · 1 accountability gap · 1 quick win idea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10972800" cy="237744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950" b="0" i="1">
                <a:solidFill>
                  <a:srgbClr val="888780"/>
                </a:solidFill>
                <a:latin typeface="Calibri"/>
              </a:rPr>
              <a:t>Facilitator: Distribute the printed billing spreadsheet now. Form groups of 3–4. Set a 25-minute timer.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0" i="0">
                <a:solidFill>
                  <a:srgbClr val="888780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Rectangle 1"/>
          <ns0:cNvSpPr/>
          <ns0:nvPr/>
        </ns0:nvSpPr>
        <ns0:spPr>
          <ns1:xfrm>
            <ns1:off x="0" y="0"/>
            <ns1:ext cx="12188952" cy="6858000"/>
          </ns1:xfrm>
          <ns1:prstGeom prst="rect">
            <ns1:avLst/>
          </ns1:prstGeom>
          <ns1:solidFill>
            <ns1:srgbClr val="0D213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3" name="Rectangle 2"/>
          <ns0:cNvSpPr/>
          <ns0:nvPr/>
        </ns0:nvSpPr>
        <ns0:spPr>
          <ns1:xfrm>
            <ns1:off x="0" y="0"/>
            <ns1:ext cx="146304" cy="6858000"/>
          </ns1:xfrm>
          <ns1:prstGeom prst="rect">
            <ns1:avLst/>
          </ns1:prstGeom>
          <ns1:solidFill>
            <ns1:srgbClr val="0F6E5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TextBox 3"/>
          <ns0:cNvSpPr txBox="1"/>
          <ns0:nvPr/>
        </ns0:nvSpPr>
        <ns0:spPr>
          <ns1:xfrm>
            <ns1:off x="457200" y="320040"/>
            <ns1:ext cx="9144000" cy="68580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3000" b="1" i="0">
                <ns1:solidFill>
                  <ns1:srgbClr val="FFFFFF"/>
                </ns1:solidFill>
                <ns1:latin typeface="Calibri"/>
              </ns1:rPr>
              <ns1:t>Day 1 — What We Covered</ns1:t>
            </ns1:r>
          </ns1:p>
        </ns0:txBody>
      </ns0:sp>
      <ns0:sp>
        <ns0:nvSpPr>
          <ns0:cNvPr id="5" name="Rectangle 4"/>
          <ns0:cNvSpPr/>
          <ns0:nvPr/>
        </ns0:nvSpPr>
        <ns0:spPr>
          <ns1:xfrm>
            <ns1:off x="457200" y="1115568"/>
            <ns1:ext cx="7772400" cy="45720"/>
          </ns1:xfrm>
          <ns1:prstGeom prst="rect">
            <ns1:avLst/>
          </ns1:prstGeom>
          <ns1:solidFill>
            <ns1:srgbClr val="1D9E75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Rectangle 5"/>
          <ns0:cNvSpPr/>
          <ns0:nvPr/>
        </ns0:nvSpPr>
        <ns0:spPr>
          <ns1:xfrm>
            <ns1:off x="457200" y="1325880"/>
            <ns1:ext cx="109728" cy="749808"/>
          </ns1:xfrm>
          <ns1:prstGeom prst="rect">
            <ns1:avLst/>
          </ns1:prstGeom>
          <ns1:solidFill>
            <ns1:srgbClr val="0F6E5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TextBox 6"/>
          <ns0:cNvSpPr txBox="1"/>
          <ns0:nvPr/>
        </ns0:nvSpPr>
        <ns0:spPr>
          <ns1:xfrm>
            <ns1:off x="685800" y="1380744"/>
            <ns1:ext cx="2743200" cy="329184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300" b="1" i="0">
                <ns1:solidFill>
                  <ns1:srgbClr val="0F6E56"/>
                </ns1:solidFill>
                <ns1:latin typeface="Calibri"/>
              </ns1:rPr>
              <ns1:t>FinOps Defined</ns1:t>
            </ns1:r>
          </ns1:p>
        </ns0:txBody>
      </ns0:sp>
      <ns0:sp>
        <ns0:nvSpPr>
          <ns0:cNvPr id="8" name="TextBox 7"/>
          <ns0:cNvSpPr txBox="1"/>
          <ns0:nvPr/>
        </ns0:nvSpPr>
        <ns0:spPr>
          <ns1:xfrm>
            <ns1:off x="685800" y="1728216"/>
            <ns1:ext cx="10515600" cy="310896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200" b="0" i="0">
                <ns1:solidFill>
                  <ns1:srgbClr val="C2C0B6"/>
                </ns1:solidFill>
                <ns1:latin typeface="Calibri"/>
              </ns1:rPr>
              <ns1:t>A practice to make every cloud dollar intentional, tracked &amp; owned by someone.</ns1:t>
            </ns1:r>
          </ns1:p>
        </ns0:txBody>
      </ns0:sp>
      <ns0:sp>
        <ns0:nvSpPr>
          <ns0:cNvPr id="9" name="Rectangle 8"/>
          <ns0:cNvSpPr/>
          <ns0:nvPr/>
        </ns0:nvSpPr>
        <ns0:spPr>
          <ns1:xfrm>
            <ns1:off x="457200" y="2221991"/>
            <ns1:ext cx="109728" cy="749808"/>
          </ns1:xfrm>
          <ns1:prstGeom prst="rect">
            <ns1:avLst/>
          </ns1:prstGeom>
          <ns1:solidFill>
            <ns1:srgbClr val="993C1D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0" name="TextBox 9"/>
          <ns0:cNvSpPr txBox="1"/>
          <ns0:nvPr/>
        </ns0:nvSpPr>
        <ns0:spPr>
          <ns1:xfrm>
            <ns1:off x="685800" y="2276856"/>
            <ns1:ext cx="2743200" cy="329184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300" b="1" i="0">
                <ns1:solidFill>
                  <ns1:srgbClr val="993C1D"/>
                </ns1:solidFill>
                <ns1:latin typeface="Calibri"/>
              </ns1:rPr>
              <ns1:t>3 Myths Busted</ns1:t>
            </ns1:r>
          </ns1:p>
        </ns0:txBody>
      </ns0:sp>
      <ns0:sp>
        <ns0:nvSpPr>
          <ns0:cNvPr id="11" name="TextBox 10"/>
          <ns0:cNvSpPr txBox="1"/>
          <ns0:nvPr/>
        </ns0:nvSpPr>
        <ns0:spPr>
          <ns1:xfrm>
            <ns1:off x="685800" y="2624327"/>
            <ns1:ext cx="10515600" cy="310896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200" b="0" i="0">
                <ns1:solidFill>
                  <ns1:srgbClr val="C2C0B6"/>
                </ns1:solidFill>
                <ns1:latin typeface="Calibri"/>
              </ns1:rPr>
              <ns1:t>Not cost cutting. Not finance's job. Not a one-time project.</ns1:t>
            </ns1:r>
          </ns1:p>
        </ns0:txBody>
      </ns0:sp>
      <ns0:sp>
        <ns0:nvSpPr>
          <ns0:cNvPr id="12" name="Rectangle 11"/>
          <ns0:cNvSpPr/>
          <ns0:nvPr/>
        </ns0:nvSpPr>
        <ns0:spPr>
          <ns1:xfrm>
            <ns1:off x="457200" y="3118104"/>
            <ns1:ext cx="109728" cy="749808"/>
          </ns1:xfrm>
          <ns1:prstGeom prst="rect">
            <ns1:avLst/>
          </ns1:prstGeom>
          <ns1:solidFill>
            <ns1:srgbClr val="3C3489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3" name="TextBox 12"/>
          <ns0:cNvSpPr txBox="1"/>
          <ns0:nvPr/>
        </ns0:nvSpPr>
        <ns0:spPr>
          <ns1:xfrm>
            <ns1:off x="685800" y="3172968"/>
            <ns1:ext cx="2743200" cy="329184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300" b="1" i="0">
                <ns1:solidFill>
                  <ns1:srgbClr val="3C3489"/>
                </ns1:solidFill>
                <ns1:latin typeface="Calibri"/>
              </ns1:rPr>
              <ns1:t>6 Principles</ns1:t>
            </ns1:r>
          </ns1:p>
        </ns0:txBody>
      </ns0:sp>
      <ns0:sp>
        <ns0:nvSpPr>
          <ns0:cNvPr id="14" name="TextBox 13"/>
          <ns0:cNvSpPr txBox="1"/>
          <ns0:nvPr/>
        </ns0:nvSpPr>
        <ns0:spPr>
          <ns1:xfrm>
            <ns1:off x="685800" y="3520440"/>
            <ns1:ext cx="10515600" cy="310896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200" b="0" i="0">
                <ns1:solidFill>
                  <ns1:srgbClr val="C2C0B6"/>
                </ns1:solidFill>
                <ns1:latin typeface="Calibri"/>
              </ns1:rPr>
              <ns1:t>Collaborate · Own costs · Enable · Timely data · Business value · Variable model.</ns1:t>
            </ns1:r>
          </ns1:p>
        </ns0:txBody>
      </ns0:sp>
      <ns0:sp>
        <ns0:nvSpPr>
          <ns0:cNvPr id="15" name="Rectangle 14"/>
          <ns0:cNvSpPr/>
          <ns0:nvPr/>
        </ns0:nvSpPr>
        <ns0:spPr>
          <ns1:xfrm>
            <ns1:off x="457200" y="4014215"/>
            <ns1:ext cx="109728" cy="749808"/>
          </ns1:xfrm>
          <ns1:prstGeom prst="rect">
            <ns1:avLst/>
          </ns1:prstGeom>
          <ns1:solidFill>
            <ns1:srgbClr val="BA7517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6" name="TextBox 15"/>
          <ns0:cNvSpPr txBox="1"/>
          <ns0:nvPr/>
        </ns0:nvSpPr>
        <ns0:spPr>
          <ns1:xfrm>
            <ns1:off x="685800" y="4069079"/>
            <ns1:ext cx="2743200" cy="329184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300" b="1" i="0">
                <ns1:solidFill>
                  <ns1:srgbClr val="BA7517"/>
                </ns1:solidFill>
                <ns1:latin typeface="Calibri"/>
              </ns1:rPr>
              <ns1:t>3 Phases</ns1:t>
            </ns1:r>
          </ns1:p>
        </ns0:txBody>
      </ns0:sp>
      <ns0:sp>
        <ns0:nvSpPr>
          <ns0:cNvPr id="17" name="TextBox 16"/>
          <ns0:cNvSpPr txBox="1"/>
          <ns0:nvPr/>
        </ns0:nvSpPr>
        <ns0:spPr>
          <ns1:xfrm>
            <ns1:off x="685800" y="4416552"/>
            <ns1:ext cx="10515600" cy="310896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200" b="0" i="0">
                <ns1:solidFill>
                  <ns1:srgbClr val="C2C0B6"/>
                </ns1:solidFill>
                <ns1:latin typeface="Calibri"/>
              </ns1:rPr>
              <ns1:t>Inform → Optimize → Operate. Days 2, 3 &amp; 4 each cover one phase.</ns1:t>
            </ns1:r>
          </ns1:p>
        </ns0:txBody>
      </ns0:sp>
      <ns0:sp>
        <ns0:nvSpPr>
          <ns0:cNvPr id="18" name="Rectangle 17"/>
          <ns0:cNvSpPr/>
          <ns0:nvPr/>
        </ns0:nvSpPr>
        <ns0:spPr>
          <ns1:xfrm>
            <ns1:off x="457200" y="4910328"/>
            <ns1:ext cx="109728" cy="749808"/>
          </ns1:xfrm>
          <ns1:prstGeom prst="rect">
            <ns1:avLst/>
          </ns1:prstGeom>
          <ns1:solidFill>
            <ns1:srgbClr val="1D9E75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19" name="TextBox 18"/>
          <ns0:cNvSpPr txBox="1"/>
          <ns0:nvPr/>
        </ns0:nvSpPr>
        <ns0:spPr>
          <ns1:xfrm>
            <ns1:off x="685800" y="4965192"/>
            <ns1:ext cx="2743200" cy="329184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300" b="1" i="0">
                <ns1:solidFill>
                  <ns1:srgbClr val="1D9E75"/>
                </ns1:solidFill>
                <ns1:latin typeface="Calibri"/>
              </ns1:rPr>
              <ns1:t>Business Case &amp; Governance</ns1:t>
            </ns1:r>
          </ns1:p>
        </ns0:txBody>
      </ns0:sp>
      <ns0:sp>
        <ns0:nvSpPr>
          <ns0:cNvPr id="20" name="TextBox 19"/>
          <ns0:cNvSpPr txBox="1"/>
          <ns0:nvPr/>
        </ns0:nvSpPr>
        <ns0:spPr>
          <ns1:xfrm>
            <ns1:off x="685800" y="5312664"/>
            <ns1:ext cx="10515600" cy="310896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200" b="0" i="0">
                <ns1:solidFill>
                  <ns1:srgbClr val="C2C0B6"/>
                </ns1:solidFill>
                <ns1:latin typeface="Calibri"/>
              </ns1:rPr>
              <ns1:t>Margins, unit economics, and CBN compliance make FinOps mandatory.</ns1:t>
            </ns1:r>
          </ns1:p>
        </ns0:txBody>
      </ns0:sp>
      <ns0:sp>
        <ns0:nvSpPr>
          <ns0:cNvPr id="21" name="Rectangle 20"/>
          <ns0:cNvSpPr/>
          <ns0:nvPr/>
        </ns0:nvSpPr>
        <ns0:spPr>
          <ns1:xfrm>
            <ns1:off x="457200" y="5897880"/>
            <ns1:ext cx="11247120" cy="685800"/>
          </ns1:xfrm>
          <ns1:prstGeom prst="rect">
            <ns1:avLst/>
          </ns1:prstGeom>
          <ns1:solidFill>
            <ns1:srgbClr val="0F6E56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22" name="TextBox 21"/>
          <ns0:cNvSpPr txBox="1"/>
          <ns0:nvPr/>
        </ns0:nvSpPr>
        <ns0:spPr>
          <ns1:xfrm>
            <ns1:off x="640080" y="5925312"/>
            <ns1:ext cx="10881360" cy="59436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l"/>
            <ns1:r>
              <ns1:rPr sz="1350" b="1" i="0">
                <ns1:solidFill>
                  <ns1:srgbClr val="FFFFFF"/>
                </ns1:solidFill>
                <ns1:latin typeface="Calibri"/>
              </ns1:rPr>
              <ns1:t>Tomorrow — Day 2:  Inform Phase — Visibility, tagging strategy &amp; cost allocation dashboards</ns1:t>
            </ns1:r>
          </ns1:p>
        </ns0:txBody>
      </ns0:sp>
      <ns0:sp>
        <ns0:nvSpPr>
          <ns0:cNvPr id="23" name="TextBox 22"/>
          <ns0:cNvSpPr txBox="1"/>
          <ns0:nvPr/>
        </ns0:nvSpPr>
        <ns0:spPr>
          <ns1:xfrm>
            <ns1:off x="11247120" y="6492240"/>
            <ns1:ext cx="822960" cy="274320"/>
          </ns1:xfrm>
          <ns1:prstGeom prst="rect">
            <ns1:avLst/>
          </ns1:prstGeom>
          <ns1:noFill/>
        </ns0:spPr>
        <ns0:txBody>
          <ns1:bodyPr wrap="square" lIns="36576" rIns="36576" tIns="36576" bIns="36576">
            <ns1:spAutoFit/>
          </ns1:bodyPr>
          <ns1:lstStyle/>
          <ns1:p>
            <ns1:pPr algn="r"/>
            <ns1:r>
              <ns1:rPr sz="900" b="0" i="0">
                <ns1:solidFill>
                  <ns1:srgbClr val="888780"/>
                </ns1:solidFill>
                <ns1:latin typeface="Calibri"/>
              </ns1:rPr>
              <ns1:t>10 / 10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