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</a:t>
            </a:r>
            <a:r>
              <a:rPr b="0" lang="en-US" sz="2000" spc="-1" strike="noStrike">
                <a:latin typeface="Arial"/>
              </a:rPr>
              <a:t>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81F5C395-BE71-4986-B340-431B9A485A56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FACILITATOR ACTIONS — SLIDE 1 (Cover) | Time: 10 minutes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━━━━━━━━━━━━━━━━━━━━━━━━━━━━━━━━━━━━━━━━━━━━━━━━━━━━━━━━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BEFORE CLASS STARTS: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Arrive 30 minutes early. Set up projector and test display.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Write on the whiteboard: "What do you know about your organisation's cloud bill?"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Print and place the lab handout (billing spreadsheet) face-down on tables — don't reveal it yet.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Have the attendance sheet ready.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OPENING (say this):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"Good morning everyone. Welcome to Day 1 of the FinOps and Cloud Financial Management course.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Over the next 5 days, we are going to completely change how LAPO MfB thinks about cloud spending.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By Friday, you will have a real governance framework ready to implement — not just theory."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ICE-BREAKER (do this before moving on — 5 minutes):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Ask the room: "Quick show of hands — how many of you have ever been surprised by a cloud bill?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How many of you actually knew WHY the bill was that high?"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Let 2-3 people respond. This creates the 'pain point' that FinOps solves.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INTRODUCE THE AGENDA: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Walk through the 5 topics at the bottom of the slide briefly.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Tell them: "These 5 things are what we cover today. By 5pm you will understand all of them."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TRANSITION: "Let's start with the most important question — what exactly is FinOps?"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A118224-167B-425A-9C67-21D54F0DE6B7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FACILITATOR ACTIONS — SLIDE 2 (What is FinOps?) | Time: 15 minutes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━━━━━━━━━━━━━━━━━━━━━━━━━━━━━━━━━━━━━━━━━━━━━━━━━━━━━━━━━━━━━━━━━━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WHAT TO SAY — THE DEFINITION: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"FinOps stands for Cloud Financial Operations. Read this definition with me."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[Read the quote aloud slowly.]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"Three key phrases here: financial accountability, cloud spending, and collaborate.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Those three words are the entire point of this course."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EXPLAIN THE ANALOGY (spend 2 minutes on this — it makes everything click):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"Most of you in this room know DevOps. DevOps brought developers and operations teams together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so software could be released faster. Before DevOps, developers threw code over the wall to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operations and nobody talked. Sound familiar?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FinOps does the same thing — but for money. Before FinOps, engineers deploy cloud resources,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finance gets the bill, nobody talks, and everyone is surprised."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EXPLAIN THE 3 PILLARS: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Point to each pillar as you speak.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PEOPLE: "FinOps only works when three groups are in the room: the people who build things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  </a:t>
            </a:r>
            <a:r>
              <a:rPr b="0" lang="en-US" sz="2000" spc="-1" strike="noStrike">
                <a:latin typeface="Arial"/>
              </a:rPr>
              <a:t>(engineers), the people who pay for things (finance), and the people who benefit from things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  </a:t>
            </a:r>
            <a:r>
              <a:rPr b="0" lang="en-US" sz="2000" spc="-1" strike="noStrike">
                <a:latin typeface="Arial"/>
              </a:rPr>
              <a:t>(business units). If any one of these groups is missing, FinOps fails."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PROCESS: "The process is a cycle — Inform, Optimize, Operate. We cover each one in Days 2, 3 and 4."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TECHNOLOGY: "The technology is dashboards, alerts, and automation tools. They support the process."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DISCUSSION PROMPT (ask the room):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"At LAPO MfB right now — which of these three pillars is weakest? People, Process, or Technology?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Who wants to share their view?" [Take 2-3 responses. Do not correct anyone — just acknowledge.]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TRANSITION: "Before we go further, let me challenge something most people think about FinOps."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50966C0-96B5-4461-BDDA-73B0504CA6A2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FACILITATOR ACTIONS — SLIDE 3 (Myth Busting) | Time: 15 minutes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━━━━━━━━━━━━━━━━━━━━━━━━━━━━━━━━━━━━━━━━━━━━━━━━━━━━━━━━━━━━━━━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HOW TO DELIVER THIS SLIDE: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Don't just read the myths. Ask the room BEFORE revealing the reality.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Cover the right side of the screen with your hand (or use a pointer) and ask the question first.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MYTH 1 — SCRIPT: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"Show of hands — who in this room thinks FinOps is mainly about reducing the cloud bill?"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[Wait for hands. Most people will raise their hand.]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"Good — and you are not wrong to think that. But watch what the reality actually is."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[Reveal the reality.]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"The goal is VALUE, not just cost reduction. If LAPO MfB spends an extra ₦5 million on cloud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this month but disburses 10,000 more loans — was that a bad decision? Absolutely not.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FinOps helps you make that call consciously, not accidentally."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MYTH 2 — SCRIPT: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"Who thinks the Finance team should be responsible for cloud costs? Who thinks IT should be?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Who thinks it should be a shared responsibility?"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[Let people debate for 60 seconds. This is usually lively.]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"The answer is: the person who deploys the resource owns the cost. If the lending team's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engineer spins up 10 servers for a loan processing job — the lending team owns that cost.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Finance tracks it. Engineering controls it. That is the shift FinOps creates."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MYTH 3 — SCRIPT: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"Has anyone been in a 'cloud cost optimisation project' before? Where a consultant came in,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cut some costs, produced a report, and left — and 6 months later costs were back up?"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[Usually gets laughs and nods.]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"That is what happens when FinOps is treated as a project. It is not a project.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It is an ongoing practice — like how you do not 'do security once' — you do it continuously."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TRANSITION: "Now that we have cleared those myths, let me show you the 6 core principles."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96C6A6C-1785-4240-A97C-0A57A8A6CD80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FACILITATOR ACTIONS — SLIDE 4 (6 Principles) | Time: 20 minutes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━━━━━━━━━━━━━━━━━━━━━━━━━━━━━━━━━━━━━━━━━━━━━━━━━━━━━━━━━━━━━━━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ACTIVITY — PAIR DISCUSSION (do this BEFORE explaining the principles):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"Before I explain these, I want you to turn to the person next to you.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You have 3 minutes to look at the 6 principles and answer this: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Which ONE principle do you think LAPO MfB already does well?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Which ONE do you think will be the hardest to implement? Go."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[Set a 3-minute timer. Walk around the room and listen.]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[After 3 minutes:] "Let's hear from two or three pairs. What did you pick?"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[Take responses. Write the most common answers on the whiteboard.]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NOW WALK THROUGH EACH PRINCIPLE: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01 — COLLABORATE: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"This is the foundation. FinOps dies in silos. If engineering optimises without finance knowing,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or finance sets budgets without engineering input — it breaks down. At LAPO, this means your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IT team and your Finance team need a shared meeting, shared dashboard, and shared language."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02 — EVERYONE OWNS COSTS: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"This is the hardest cultural shift. Engineers often think 'I just build things — cost is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finance's problem.' FinOps says no. If you clicked 'launch', you own the bill for it.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Think of it like a company credit card — whoever swipes it is responsible."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03 — FINOPS ENABLES (not polices):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"The FinOps team's job is to make it EASY for teams to do the right thing — not to stand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over them like security guards. If a team is overspending, the FinOps team helps them fix it.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They don't send threatening emails. They provide better tools and data."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04 — TIMELY DATA: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"Imagine getting your bank statement once a year. That is what monthly cloud billing feels like.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By the time you see the bill, the damage is done. FinOps requires real-time dashboards — so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 team can see TODAY that their costs are spiking, not next month."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05 — BUSINESS VALUE: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"Every cloud spend decision must answer: what business value does this create?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 FinOps team never says 'cut this' without understanding why it exists.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Cost per loan disbursed. Cost per active borrower. These are the metrics that matter."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06 — VARIABLE COST MODEL: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"Cloud's biggest advantage is that you only pay for what you use. Most organisations treat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cloud like they treated on-premise — always-on, always-same-size. That wastes the advantage.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FinOps says: scale up when you need it, scale down when you don't."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TRANSITION: "Now let's put these principles into a practical structure — the 3 phases."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305588A-6B9B-48B2-A63D-65816DBAFD3B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FACILITATOR ACTIONS — SLIDE 5 (3 Phases) | Time: 20 minutes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━━━━━━━━━━━━━━━━━━━━━━━━━━━━━━━━━━━━━━━━━━━━━━━━━━━━━━━━━━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OPENING STATEMENT: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"This slide is the most important one in the entire course. Everything we do across 5 days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maps back to these 3 phases. Write them on the top of your notes page right now: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Inform. Optimize. Operate."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[Pause and let them write.]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PHASE 1 — INFORM (point to the green column):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"Inform is about answering one question: what are we actually spending, and who is responsible?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Right now at most organisations — including many microfinance banks — nobody can answer that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question precisely. Bills come in. Someone panics. People point fingers. Nobody knows.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The Inform phase fixes that. We build dashboards, we tag resources, we assign ownership.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We do all of this on Day 2."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REAL EXAMPLE FOR INFORM: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"Imagine LAPO's cloud bill arrives — ₦8.2 million for the month. Without Inform,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you see one number and have no idea where it came from. With Inform, you see: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Lending App: ₦3.1M | Core Banking: ₦2.8M | Analytics: ₦1.6M | Unknown: ₦0.7M.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That 'Unknown' is your first FinOps problem to solve."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PHASE 2 — OPTIMIZE (point to the purple column):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"Once you can see the costs, you start optimising. This means three things: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First — eliminate waste. Idle servers nobody is using. Orphaned storage nobody deleted.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Test environments running 24 hours when they only need to run 8.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Second — rightsize. That large database server running at 12% capacity? Move it to a small one.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Third — commit to discounts. If a workload runs predictably every day, buy a reserved instance.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We do all of this on Day 3."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PHASE 3 — OPERATE (point to the coral column):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"Operate means making FinOps a permanent part of how LAPO runs — not a project you do once.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This means: budgets, alerts, governance policies, forecasting, and compliance checks.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If Day 2 is the eyes and Day 3 is the hands — Day 4 is the backbone."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KEY MESSAGE — SAY THIS CLEARLY: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"These 3 phases are a loop, not a line. After you Operate, you go back to Inform.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New services get deployed, new costs appear, new optimisations become available.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FinOps teams run this cycle every single month."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QUICK CHECK — ask the room: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"Without looking at your notes — can someone tell me what each phase does in one sentence?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Inform? Optimize? Operate?" [Take 3 volunteers.]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TRANSITION: "Let's look at who needs to be involved to make these 3 phases work."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521077-A51A-410E-99E0-7A7962C79A34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FACILITATOR ACTIONS — SLIDE 6 (Roles) | Time: 15 minutes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━━━━━━━━━━━━━━━━━━━━━━━━━━━━━━━━━━━━━━━━━━━━━━━━━━━━━━━━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OPENING ACTIVITY (do this BEFORE explaining roles — 5 minutes):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"Look at the 6 roles on screen. Without me explaining them — I want each of you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to write down on a piece of paper: which role are YOU in this course?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You have 1 minute. Go."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[After 1 minute, ask for a show of hands for each role.]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[Write the counts on the whiteboard. This tells you your class composition.]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EXPLAINING THE KEY ROLES: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FINOPS PRACTITIONER: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"This is the central person or team. At LAPO MfB, this could be one person to start with —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someone from IT or Finance who is empowered to drive the FinOps agenda.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Their job is not to do all the work — it is to build the system, set the standards,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and make sure everyone else is doing their part."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FINOPS CHAMPION — MOST IMPORTANT FOR THIS CLASS: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"This is the role most of YOU will play after this course. A FinOps Champion is embedded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inside a team — the loans team, the risk team, the analytics team — and they are the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person in that team who asks 'what did we spend this month and why?'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You don't need to be technical. You need to be curious and persistent."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CLOUD ENGINEER: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"They are the ones who actually have the power to change costs. Engineers decide what size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of server to use, whether to delete old resources, whether to schedule workloads.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FinOps only works if engineers are on board — and the way to get them on board is to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give them visibility and remove the blame culture."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FINANCE / PROCUREMENT: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"Their job changes in FinOps. Instead of just receiving a bill and questioning it —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they become active in forecasting, vendor negotiations, and commitment discount strategy.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They need to understand what a Reserved Instance is and how it affects the budget."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LEADERSHIP / CISO: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"Leadership has to set the tone from the top. If the CTO says 'I don't care about cloud costs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as long as it works' — FinOps will never get traction. Leadership needs to make cost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accountability part of performance reviews and team OKRs."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TRANSITION: "Now let me make this very specific to LAPO MfB — why do YOU need FinOps urgently?"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056DAE0-D75C-4E5D-AC0E-818D1A4350A5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FACILITATOR ACTIONS — SLIDE 7 (LAPO Context) | Time: 20 minutes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━━━━━━━━━━━━━━━━━━━━━━━━━━━━━━━━━━━━━━━━━━━━━━━━━━━━━━━━━━━━━━━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OPENING: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"Everything we have discussed so far is general FinOps. Now let us make it specific to LAPO.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These four scenarios are not made up — they reflect the real cost pressures microfinance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banks in Nigeria face when running on cloud."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SCENARIO 1 — MOBILE LENDING APP: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"LAPO's mobile app is your front door to customers. When you run a loan campaign —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say a promotional rate during Ramadan or end of year — applications flood in.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Auto-scaling means the cloud automatically adds more servers to handle the traffic.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Great for performance. Terrible for the bill if nobody is watching.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Without FinOps, your December campaign ends and the servers are still running in January.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With FinOps, you set a budget alert, you monitor daily, and you scale back as soon as the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campaign ends. That one change alone can save millions of naira."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SCENARIO 2 — CORE BANKING: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"Core banking systems run 24/7, every day, all year. That is a predictable, stable workload.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Cloud providers reward predictability with deep discounts — up to 72% off — if you commit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to using a resource for 1 or 3 years. This is called a Reserved Instance.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Most organisations do not do this because nobody is looking at the bill carefully enough.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 FinOps team identifies these workloads and buys the commitment. That is real, immediate savings."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SCENARIO 3 — ANALYTICS: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"Credit scoring, loan risk models, month-end reports — these are heavy compute jobs that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only run at specific times. Running large servers 24/7 to serve jobs that only need them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4 hours a day is pure waste. Scheduling those jobs on cheaper 'spot' instances — spare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cloud capacity sold at discount — can reduce analytics costs by up to 80%."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SCENARIO 4 — CBN COMPLIANCE: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"The Central Bank of Nigeria has guidelines about where customer data can be stored.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Some data must remain in Nigeria or designated regions. If your engineers deploy a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database in a cheaper US region without knowing this rule — you have a compliance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problem AND an unexpected cost problem when you have to migrate it.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FinOps governance prevents this by making region selection part of the approval process."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GROUP DISCUSSION (5 minutes):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"Which of these four scenarios do you think is most urgent for LAPO right now?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Discuss at your table for 2 minutes, then we will hear from each table."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[Facilitate brief sharing. Do not go into deep solutions — save that for Days 2-4.]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TRANSITION: "Before we do our lab, let us make sure everyone knows the key terms."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34B31EA-01D0-4294-9256-7755318BC165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FACILITATOR ACTIONS — SLIDE 8 (Key Terms) | Time: 10 minutes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━━━━━━━━━━━━━━━━━━━━━━━━━━━━━━━━━━━━━━━━━━━━━━━━━━━━━━━━━━━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DELIVERY METHOD — QUIZ FORMAT (makes it interactive):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Do NOT just read through the terms. Instead: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1. Cover the definition side and read the term. Ask someone to guess the meaning.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2. Reveal the definition. Correct or affirm.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3. Repeat for each term — move quickly (30 seconds per term).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TERMS TO SPEND EXTRA TIME ON: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CHARGEBACK vs SHOWBACK (participants confuse these constantly):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"Showback means you show a team their costs — like a report card. No money moves.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Chargeback means you actually charge that money to the team's budget. Real financial impact.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Most organisations start with Showback to build awareness, then move to Chargeback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once teams understand and accept their responsibility. We will discuss this on Day 2."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UNIT ECONOMICS (very relevant for microfinance):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"This is one of the most powerful FinOps concepts for a bank like LAPO.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Instead of asking 'how much did we spend on cloud this month?' — you ask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'how much did it cost us to disburse each loan?' or 'what is our cloud cost per active borrower?'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These numbers allow you to tie cloud spending directly to business performance."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TAGGING (critical for everything else):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"Tagging is the foundation of cost allocation. If your resources are not tagged,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you cannot tell which team or product is spending what. We go deep on tagging on Day 2.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For now, just remember: no tags = no visibility = no FinOps."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ACTIVITY — PAIR QUIZ (3 minutes):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"Close your eyes, partner up, and take turns testing each other on these 10 terms.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One person reads the term, the other gives the definition from memory. Go."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TRANSITION: "Perfect. Now it is time to apply what you have learned. Lab time."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7BBF63F-A0A8-4BA3-BF20-121DCA985FD5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FACILITATOR ACTIONS — SLIDE 9 (Hands-on Lab) | Time: 45 minutes total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━━━━━━━━━━━━━━━━━━━━━━━━━━━━━━━━━━━━━━━━━━━━━━━━━━━━━━━━━━━━━━━━━━━━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BEFORE STARTING THE LAB: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Flip over the billing spreadsheet on each table (you placed it face-down at the start).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Divide participants into groups of 3–4. Mix roles — put an engineer with a finance person.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Set a visible 25-minute timer on the projector or your phone.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INTRODUCING THE LAB (say this):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"You now have a simulated LAPO MfB cloud bill. It shows every cloud service that LAPO used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last month, the cost for each one, and which cloud provider it came from.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Your job as a group is to do what most organisations never do — make sense of it.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Follow the 4 steps on screen. At the end, one person from your group will present your findings."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WHAT TO DO DURING THE 25 MINUTES: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Walk around the room. Listen to group conversations. Do NOT give answers.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If a group is stuck on Step 1, hint: "Think about what kind of work each service does."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If a group finishes early, give them an extension task: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  </a:t>
            </a:r>
            <a:r>
              <a:rPr b="0" lang="en-US" sz="2000" spc="-1" strike="noStrike">
                <a:latin typeface="Arial"/>
              </a:rPr>
              <a:t>"Now estimate — if you could eliminate the items in the 'Other' category,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  </a:t>
            </a:r>
            <a:r>
              <a:rPr b="0" lang="en-US" sz="2000" spc="-1" strike="noStrike">
                <a:latin typeface="Arial"/>
              </a:rPr>
              <a:t>how much would that save per year?"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THINGS TO WATCH FOR (common patterns):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Groups will find services with no tag and no obvious owner — highlight this when presenting.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Groups often underestimate how much the database tier costs — use this as a teaching moment.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Finance participants often cannot identify what a service does — this is the 'language gap' FinOps fixes.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DEBRIEF — PRESENTATIONS (15 minutes):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Ask each group to stand and share for 2 minutes: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"What were your top 2 cost categories?"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"What was your accountability gap?"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"What quick win did you find?"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After all groups present, wrap up with: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"Notice what just happened. In 25 minutes, you did more cloud cost analysis than most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organisations do in a month. That is what FinOps looks like in practice — cross-functional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teams, looking at real data, asking simple questions. Now imagine doing this every week."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TRANSITION: "Let us close Day 1 with a summary of everything we covered."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948D96A-8154-4D7A-A8C3-01861459E341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FACILITATOR ACTIONS — SLIDE 10 (Summary &amp; Close) | Time: 15 minutes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━━━━━━━━━━━━━━━━━━━━━━━━━━━━━━━━━━━━━━━━━━━━━━━━━━━━━━━━━━━━━━━━━━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WALK THROUGH THE SUMMARY (5 minutes):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Go through each point and ask a participant to summarise it before you confirm.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"Who can remind us — in one sentence — what FinOps is?" [Take response, confirm.]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"Who remembers the 3 myths?" [Take response, confirm.]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"Who can name all 6 principles?" [Challenge — offer a small prize if anyone gets all 6.]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EXIT TICKET ACTIVITY (5 minutes — very effective):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Give every participant a sticky note (or small piece of paper). Ask them to write: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1. ONE thing they learned today they did not know before.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2. ONE question they still have.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Collect the notes as people leave. Read the questions tonight — address the most common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ones at the start of Day 2.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PRE-WORK FOR TOMORROW (tell them this clearly):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"Before tomorrow morning, I need you to do ONE thing: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Log into your AWS or Azure portal. Go to the billing or cost management section.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Look at this month's bill and write down the top 3 services by cost.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Do not analyse it — just look. We will use what you find in tomorrow's session."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CLOSING WORDS: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"You came in today not knowing what FinOps was. You are leaving with the definition,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the 6 principles, the 3 phases, and a real lab experience.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Tomorrow we go deeper. We get into the tools. We build actual dashboards.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Get some rest — Day 2 is hands-on from the start."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AFTER CLASS: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Read the exit ticket questions.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Prepare an answer for the top 3 most common questions to open Day 2.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Check that everyone has access to the cloud console they need for tomorrow's lab.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- Send a brief WhatsApp or email reminder about the pre-work.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90D14D8-76F3-4EB0-A90E-AE4FBC75825C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8E3304E-53E4-415D-B637-117395156F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CA8B1FB-D967-488E-8BCD-4A902C841F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B11FBE7-CAB1-418C-A836-EF88FFA2E97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52D183F-0A53-4652-AD15-BEFDE2F839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C6F8F80-38E6-4673-96BB-403C54C93D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F77D408-397A-4A2E-998D-867B51A64B4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EA3FE0-9C90-4694-B159-DF0D34F5E2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14884FF-744D-4ED7-AD14-F3A4CFD826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C97DF77-6782-42D5-AB78-629A948473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7E8D22F-E3C3-4200-9513-36C73BB7F3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13C8B06-399F-48B0-A22C-564C453BC1D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8F008CA-2D58-4052-8D3C-EA95A7A875A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8ECB144-E4FE-49F2-8E60-564E1F7F557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" name="Rectangle 2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Rectangle 3"/>
          <p:cNvSpPr/>
          <p:nvPr/>
        </p:nvSpPr>
        <p:spPr>
          <a:xfrm>
            <a:off x="0" y="5029200"/>
            <a:ext cx="12188520" cy="18284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" name="TextBox 4"/>
          <p:cNvSpPr/>
          <p:nvPr/>
        </p:nvSpPr>
        <p:spPr>
          <a:xfrm>
            <a:off x="457200" y="502920"/>
            <a:ext cx="365724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9fe1cb"/>
                </a:solidFill>
                <a:latin typeface="Calibri"/>
              </a:rPr>
              <a:t>DAY 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1" name="TextBox 5"/>
          <p:cNvSpPr/>
          <p:nvPr/>
        </p:nvSpPr>
        <p:spPr>
          <a:xfrm>
            <a:off x="457200" y="960120"/>
            <a:ext cx="10972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600" spc="-1" strike="noStrike">
                <a:solidFill>
                  <a:srgbClr val="ffffff"/>
                </a:solidFill>
                <a:latin typeface="Calibri"/>
              </a:rPr>
              <a:t>Introduction to FinOps</a:t>
            </a:r>
            <a:endParaRPr b="0" lang="en-US" sz="4600" spc="-1" strike="noStrike">
              <a:latin typeface="Arial"/>
            </a:endParaRPr>
          </a:p>
        </p:txBody>
      </p:sp>
      <p:sp>
        <p:nvSpPr>
          <p:cNvPr id="52" name="TextBox 6"/>
          <p:cNvSpPr/>
          <p:nvPr/>
        </p:nvSpPr>
        <p:spPr>
          <a:xfrm>
            <a:off x="457200" y="1920240"/>
            <a:ext cx="1097244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9fe1cb"/>
                </a:solidFill>
                <a:latin typeface="Calibri"/>
              </a:rPr>
              <a:t>&amp; Cloud Financial Management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3" name="Rectangle 7"/>
          <p:cNvSpPr/>
          <p:nvPr/>
        </p:nvSpPr>
        <p:spPr>
          <a:xfrm>
            <a:off x="457200" y="2834640"/>
            <a:ext cx="6857640" cy="4536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" name="TextBox 8"/>
          <p:cNvSpPr/>
          <p:nvPr/>
        </p:nvSpPr>
        <p:spPr>
          <a:xfrm>
            <a:off x="457200" y="3017520"/>
            <a:ext cx="82292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888780"/>
                </a:solidFill>
                <a:latin typeface="Calibri"/>
              </a:rPr>
              <a:t>LAPO Microfinance Bank  ·  2025/2026 FinOps Framework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5" name="TextBox 9"/>
          <p:cNvSpPr/>
          <p:nvPr/>
        </p:nvSpPr>
        <p:spPr>
          <a:xfrm>
            <a:off x="640080" y="5139000"/>
            <a:ext cx="45684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1024200" y="5139000"/>
            <a:ext cx="173700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What is FinOps?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7" name="TextBox 11"/>
          <p:cNvSpPr/>
          <p:nvPr/>
        </p:nvSpPr>
        <p:spPr>
          <a:xfrm>
            <a:off x="2880360" y="5139000"/>
            <a:ext cx="45684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2"/>
          <p:cNvSpPr/>
          <p:nvPr/>
        </p:nvSpPr>
        <p:spPr>
          <a:xfrm>
            <a:off x="3264480" y="5139000"/>
            <a:ext cx="173700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The 6 Principles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9" name="TextBox 13"/>
          <p:cNvSpPr/>
          <p:nvPr/>
        </p:nvSpPr>
        <p:spPr>
          <a:xfrm>
            <a:off x="5120640" y="5139000"/>
            <a:ext cx="45684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4"/>
          <p:cNvSpPr/>
          <p:nvPr/>
        </p:nvSpPr>
        <p:spPr>
          <a:xfrm>
            <a:off x="5504760" y="5139000"/>
            <a:ext cx="173700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The 3 Phases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1" name="TextBox 15"/>
          <p:cNvSpPr/>
          <p:nvPr/>
        </p:nvSpPr>
        <p:spPr>
          <a:xfrm>
            <a:off x="7360920" y="5139000"/>
            <a:ext cx="45684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04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TextBox 16"/>
          <p:cNvSpPr/>
          <p:nvPr/>
        </p:nvSpPr>
        <p:spPr>
          <a:xfrm>
            <a:off x="7745040" y="5139000"/>
            <a:ext cx="17370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Business Case &amp; Governance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3" name="TextBox 17"/>
          <p:cNvSpPr/>
          <p:nvPr/>
        </p:nvSpPr>
        <p:spPr>
          <a:xfrm>
            <a:off x="9601200" y="5139000"/>
            <a:ext cx="45684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05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4" name="TextBox 18"/>
          <p:cNvSpPr/>
          <p:nvPr/>
        </p:nvSpPr>
        <p:spPr>
          <a:xfrm>
            <a:off x="9985320" y="5139000"/>
            <a:ext cx="173700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Hands-on Lab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5" name="TextBox 19"/>
          <p:cNvSpPr/>
          <p:nvPr/>
        </p:nvSpPr>
        <p:spPr>
          <a:xfrm>
            <a:off x="11247120" y="6492240"/>
            <a:ext cx="8226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88780"/>
                </a:solidFill>
                <a:latin typeface="Calibri"/>
              </a:rPr>
              <a:t>1 / 10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" name="Rectangle 3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9" name="TextBox 4"/>
          <p:cNvSpPr/>
          <p:nvPr/>
        </p:nvSpPr>
        <p:spPr>
          <a:xfrm>
            <a:off x="420480" y="201240"/>
            <a:ext cx="10515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What is FinOps?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70" name="TextBox 5"/>
          <p:cNvSpPr/>
          <p:nvPr/>
        </p:nvSpPr>
        <p:spPr>
          <a:xfrm>
            <a:off x="420480" y="1371600"/>
            <a:ext cx="114296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888780"/>
                </a:solidFill>
                <a:latin typeface="Calibri"/>
              </a:rPr>
              <a:t>A simple definition before anything else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71" name="Rectangle 6"/>
          <p:cNvSpPr/>
          <p:nvPr/>
        </p:nvSpPr>
        <p:spPr>
          <a:xfrm>
            <a:off x="457200" y="1737360"/>
            <a:ext cx="11246760" cy="1371240"/>
          </a:xfrm>
          <a:prstGeom prst="rect">
            <a:avLst/>
          </a:prstGeom>
          <a:solidFill>
            <a:srgbClr val="e1f5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2" name="Rectangle 7"/>
          <p:cNvSpPr/>
          <p:nvPr/>
        </p:nvSpPr>
        <p:spPr>
          <a:xfrm>
            <a:off x="457200" y="1737360"/>
            <a:ext cx="109440" cy="13712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3" name="TextBox 8"/>
          <p:cNvSpPr/>
          <p:nvPr/>
        </p:nvSpPr>
        <p:spPr>
          <a:xfrm>
            <a:off x="685800" y="1810440"/>
            <a:ext cx="10835280" cy="5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450" spc="-1" strike="noStrike">
                <a:solidFill>
                  <a:srgbClr val="0d2137"/>
                </a:solidFill>
                <a:latin typeface="Calibri"/>
              </a:rPr>
              <a:t>"FinOps is the practice of bringing financial accountability to cloud spending by enabling engineering, finance, and business teams to collaborate on data-driven decisions."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74" name="Rectangle 9"/>
          <p:cNvSpPr/>
          <p:nvPr/>
        </p:nvSpPr>
        <p:spPr>
          <a:xfrm>
            <a:off x="457200" y="3291840"/>
            <a:ext cx="11246760" cy="502560"/>
          </a:xfrm>
          <a:prstGeom prst="rect">
            <a:avLst/>
          </a:prstGeom>
          <a:solidFill>
            <a:srgbClr val="faeed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" name="TextBox 10"/>
          <p:cNvSpPr/>
          <p:nvPr/>
        </p:nvSpPr>
        <p:spPr>
          <a:xfrm>
            <a:off x="640080" y="3337560"/>
            <a:ext cx="1097244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ba7517"/>
                </a:solidFill>
                <a:latin typeface="Calibri"/>
              </a:rPr>
              <a:t>💡  </a:t>
            </a:r>
            <a:r>
              <a:rPr b="0" lang="en-US" sz="1350" spc="-1" strike="noStrike">
                <a:solidFill>
                  <a:srgbClr val="ba7517"/>
                </a:solidFill>
                <a:latin typeface="Calibri"/>
              </a:rPr>
              <a:t>Simple analogy:  DevOps = deploy fast.   FinOps = deploy fast without bleeding money.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76" name="Rectangle 11"/>
          <p:cNvSpPr/>
          <p:nvPr/>
        </p:nvSpPr>
        <p:spPr>
          <a:xfrm>
            <a:off x="457200" y="4005000"/>
            <a:ext cx="3657240" cy="2349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Rectangle 12"/>
          <p:cNvSpPr/>
          <p:nvPr/>
        </p:nvSpPr>
        <p:spPr>
          <a:xfrm>
            <a:off x="457200" y="4005000"/>
            <a:ext cx="3657240" cy="52992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8" name="TextBox 13"/>
          <p:cNvSpPr/>
          <p:nvPr/>
        </p:nvSpPr>
        <p:spPr>
          <a:xfrm>
            <a:off x="457200" y="4023360"/>
            <a:ext cx="3657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PEOPLE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594360" y="4645080"/>
            <a:ext cx="3382920" cy="4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Engineering + Finance</a:t>
            </a:r>
            <a:endParaRPr b="0" lang="en-US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+ Business collaborate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0" name="Rectangle 15"/>
          <p:cNvSpPr/>
          <p:nvPr/>
        </p:nvSpPr>
        <p:spPr>
          <a:xfrm>
            <a:off x="4370760" y="4005000"/>
            <a:ext cx="3657240" cy="2349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1" name="Rectangle 16"/>
          <p:cNvSpPr/>
          <p:nvPr/>
        </p:nvSpPr>
        <p:spPr>
          <a:xfrm>
            <a:off x="4370760" y="4005000"/>
            <a:ext cx="3657240" cy="529920"/>
          </a:xfrm>
          <a:prstGeom prst="rect">
            <a:avLst/>
          </a:prstGeom>
          <a:solidFill>
            <a:srgbClr val="3c34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2" name="TextBox 17"/>
          <p:cNvSpPr/>
          <p:nvPr/>
        </p:nvSpPr>
        <p:spPr>
          <a:xfrm>
            <a:off x="4370760" y="4023360"/>
            <a:ext cx="3657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PROCESS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3" name="TextBox 18"/>
          <p:cNvSpPr/>
          <p:nvPr/>
        </p:nvSpPr>
        <p:spPr>
          <a:xfrm>
            <a:off x="4507920" y="4645080"/>
            <a:ext cx="3382920" cy="4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Inform → Optimize</a:t>
            </a:r>
            <a:endParaRPr b="0" lang="en-US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→ </a:t>
            </a:r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Operate lifecycle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4" name="Rectangle 19"/>
          <p:cNvSpPr/>
          <p:nvPr/>
        </p:nvSpPr>
        <p:spPr>
          <a:xfrm>
            <a:off x="8284320" y="4005000"/>
            <a:ext cx="3657240" cy="2349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Rectangle 20"/>
          <p:cNvSpPr/>
          <p:nvPr/>
        </p:nvSpPr>
        <p:spPr>
          <a:xfrm>
            <a:off x="8284320" y="4005000"/>
            <a:ext cx="3657240" cy="52992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6" name="TextBox 21"/>
          <p:cNvSpPr/>
          <p:nvPr/>
        </p:nvSpPr>
        <p:spPr>
          <a:xfrm>
            <a:off x="8284320" y="4023360"/>
            <a:ext cx="3657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TECHNOLOGY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7" name="TextBox 22"/>
          <p:cNvSpPr/>
          <p:nvPr/>
        </p:nvSpPr>
        <p:spPr>
          <a:xfrm>
            <a:off x="8421480" y="4645080"/>
            <a:ext cx="3382920" cy="4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Cloud tools, dashboards</a:t>
            </a:r>
            <a:endParaRPr b="0" lang="en-US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&amp; automation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8" name="TextBox 23"/>
          <p:cNvSpPr/>
          <p:nvPr/>
        </p:nvSpPr>
        <p:spPr>
          <a:xfrm>
            <a:off x="11247120" y="6492240"/>
            <a:ext cx="8226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88780"/>
                </a:solidFill>
                <a:latin typeface="Calibri"/>
              </a:rPr>
              <a:t>2 / 10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1" name="Rectangle 3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TextBox 4"/>
          <p:cNvSpPr/>
          <p:nvPr/>
        </p:nvSpPr>
        <p:spPr>
          <a:xfrm>
            <a:off x="420480" y="201240"/>
            <a:ext cx="10515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FinOps ≠ Just Cutting Costs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420480" y="1371600"/>
            <a:ext cx="114296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888780"/>
                </a:solidFill>
                <a:latin typeface="Calibri"/>
              </a:rPr>
              <a:t>Bust these myths early — your audience may believe all three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94" name="Rectangle 6"/>
          <p:cNvSpPr/>
          <p:nvPr/>
        </p:nvSpPr>
        <p:spPr>
          <a:xfrm>
            <a:off x="457200" y="1691640"/>
            <a:ext cx="5166000" cy="1389600"/>
          </a:xfrm>
          <a:prstGeom prst="rect">
            <a:avLst/>
          </a:prstGeom>
          <a:solidFill>
            <a:srgbClr val="fae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5" name="Rectangle 7"/>
          <p:cNvSpPr/>
          <p:nvPr/>
        </p:nvSpPr>
        <p:spPr>
          <a:xfrm>
            <a:off x="457200" y="1691640"/>
            <a:ext cx="822600" cy="138960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6" name="TextBox 8"/>
          <p:cNvSpPr/>
          <p:nvPr/>
        </p:nvSpPr>
        <p:spPr>
          <a:xfrm>
            <a:off x="457200" y="2167200"/>
            <a:ext cx="82260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MYTH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7" name="TextBox 9"/>
          <p:cNvSpPr/>
          <p:nvPr/>
        </p:nvSpPr>
        <p:spPr>
          <a:xfrm>
            <a:off x="1417320" y="1892880"/>
            <a:ext cx="406872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993c1d"/>
                </a:solidFill>
                <a:latin typeface="Calibri"/>
              </a:rPr>
              <a:t>"FinOps is just about reducing the cloud bill."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98" name="TextBox 10"/>
          <p:cNvSpPr/>
          <p:nvPr/>
        </p:nvSpPr>
        <p:spPr>
          <a:xfrm>
            <a:off x="5742360" y="2148840"/>
            <a:ext cx="5025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f6e56"/>
                </a:solidFill>
                <a:latin typeface="Calibri"/>
              </a:rPr>
              <a:t>→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99" name="Rectangle 11"/>
          <p:cNvSpPr/>
          <p:nvPr/>
        </p:nvSpPr>
        <p:spPr>
          <a:xfrm>
            <a:off x="6309360" y="1691640"/>
            <a:ext cx="5421960" cy="1389600"/>
          </a:xfrm>
          <a:prstGeom prst="rect">
            <a:avLst/>
          </a:prstGeom>
          <a:solidFill>
            <a:srgbClr val="e1f5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Rectangle 12"/>
          <p:cNvSpPr/>
          <p:nvPr/>
        </p:nvSpPr>
        <p:spPr>
          <a:xfrm>
            <a:off x="6309360" y="1691640"/>
            <a:ext cx="822600" cy="138960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1" name="TextBox 13"/>
          <p:cNvSpPr/>
          <p:nvPr/>
        </p:nvSpPr>
        <p:spPr>
          <a:xfrm>
            <a:off x="6309360" y="2112120"/>
            <a:ext cx="8226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REALITY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02" name="TextBox 14"/>
          <p:cNvSpPr/>
          <p:nvPr/>
        </p:nvSpPr>
        <p:spPr>
          <a:xfrm>
            <a:off x="7269480" y="1856160"/>
            <a:ext cx="434304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0d2137"/>
                </a:solidFill>
                <a:latin typeface="Calibri"/>
              </a:rPr>
              <a:t>FinOps maximises BUSINESS VALUE. Sometimes spending MORE is the right call — if it drives more loans, customers, or faster delivery.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03" name="Rectangle 15"/>
          <p:cNvSpPr/>
          <p:nvPr/>
        </p:nvSpPr>
        <p:spPr>
          <a:xfrm>
            <a:off x="457200" y="3291840"/>
            <a:ext cx="5166000" cy="1389600"/>
          </a:xfrm>
          <a:prstGeom prst="rect">
            <a:avLst/>
          </a:prstGeom>
          <a:solidFill>
            <a:srgbClr val="fae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4" name="Rectangle 16"/>
          <p:cNvSpPr/>
          <p:nvPr/>
        </p:nvSpPr>
        <p:spPr>
          <a:xfrm>
            <a:off x="457200" y="3291840"/>
            <a:ext cx="822600" cy="138960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TextBox 17"/>
          <p:cNvSpPr/>
          <p:nvPr/>
        </p:nvSpPr>
        <p:spPr>
          <a:xfrm>
            <a:off x="457200" y="3767400"/>
            <a:ext cx="82260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MYTH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6" name="TextBox 18"/>
          <p:cNvSpPr/>
          <p:nvPr/>
        </p:nvSpPr>
        <p:spPr>
          <a:xfrm>
            <a:off x="1417320" y="3493080"/>
            <a:ext cx="406872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993c1d"/>
                </a:solidFill>
                <a:latin typeface="Calibri"/>
              </a:rPr>
              <a:t>"Finance should own cloud costs."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07" name="TextBox 19"/>
          <p:cNvSpPr/>
          <p:nvPr/>
        </p:nvSpPr>
        <p:spPr>
          <a:xfrm>
            <a:off x="5742360" y="3749040"/>
            <a:ext cx="5025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f6e56"/>
                </a:solidFill>
                <a:latin typeface="Calibri"/>
              </a:rPr>
              <a:t>→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08" name="Rectangle 20"/>
          <p:cNvSpPr/>
          <p:nvPr/>
        </p:nvSpPr>
        <p:spPr>
          <a:xfrm>
            <a:off x="6309360" y="3291840"/>
            <a:ext cx="5421960" cy="1389600"/>
          </a:xfrm>
          <a:prstGeom prst="rect">
            <a:avLst/>
          </a:prstGeom>
          <a:solidFill>
            <a:srgbClr val="e1f5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Rectangle 21"/>
          <p:cNvSpPr/>
          <p:nvPr/>
        </p:nvSpPr>
        <p:spPr>
          <a:xfrm>
            <a:off x="6309360" y="3291840"/>
            <a:ext cx="822600" cy="138960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0" name="TextBox 22"/>
          <p:cNvSpPr/>
          <p:nvPr/>
        </p:nvSpPr>
        <p:spPr>
          <a:xfrm>
            <a:off x="6309360" y="3712320"/>
            <a:ext cx="8226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REALITY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11" name="TextBox 23"/>
          <p:cNvSpPr/>
          <p:nvPr/>
        </p:nvSpPr>
        <p:spPr>
          <a:xfrm>
            <a:off x="7269480" y="3456360"/>
            <a:ext cx="434304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0d2137"/>
                </a:solidFill>
                <a:latin typeface="Calibri"/>
              </a:rPr>
              <a:t>Every team that deploys resources owns its cost. FinOps creates shared accountability — not a finance police department.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12" name="Rectangle 24"/>
          <p:cNvSpPr/>
          <p:nvPr/>
        </p:nvSpPr>
        <p:spPr>
          <a:xfrm>
            <a:off x="457200" y="4892040"/>
            <a:ext cx="5166000" cy="1389600"/>
          </a:xfrm>
          <a:prstGeom prst="rect">
            <a:avLst/>
          </a:prstGeom>
          <a:solidFill>
            <a:srgbClr val="fae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3" name="Rectangle 25"/>
          <p:cNvSpPr/>
          <p:nvPr/>
        </p:nvSpPr>
        <p:spPr>
          <a:xfrm>
            <a:off x="457200" y="4892040"/>
            <a:ext cx="822600" cy="138960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4" name="TextBox 26"/>
          <p:cNvSpPr/>
          <p:nvPr/>
        </p:nvSpPr>
        <p:spPr>
          <a:xfrm>
            <a:off x="457200" y="5367600"/>
            <a:ext cx="82260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MYTH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5" name="TextBox 27"/>
          <p:cNvSpPr/>
          <p:nvPr/>
        </p:nvSpPr>
        <p:spPr>
          <a:xfrm>
            <a:off x="1417320" y="5093280"/>
            <a:ext cx="406872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993c1d"/>
                </a:solidFill>
                <a:latin typeface="Calibri"/>
              </a:rPr>
              <a:t>"FinOps is a one-time project."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16" name="TextBox 28"/>
          <p:cNvSpPr/>
          <p:nvPr/>
        </p:nvSpPr>
        <p:spPr>
          <a:xfrm>
            <a:off x="5742360" y="5349240"/>
            <a:ext cx="5025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f6e56"/>
                </a:solidFill>
                <a:latin typeface="Calibri"/>
              </a:rPr>
              <a:t>→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17" name="Rectangle 29"/>
          <p:cNvSpPr/>
          <p:nvPr/>
        </p:nvSpPr>
        <p:spPr>
          <a:xfrm>
            <a:off x="6309360" y="4892040"/>
            <a:ext cx="5421960" cy="1389600"/>
          </a:xfrm>
          <a:prstGeom prst="rect">
            <a:avLst/>
          </a:prstGeom>
          <a:solidFill>
            <a:srgbClr val="e1f5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8" name="Rectangle 30"/>
          <p:cNvSpPr/>
          <p:nvPr/>
        </p:nvSpPr>
        <p:spPr>
          <a:xfrm>
            <a:off x="6309360" y="4892040"/>
            <a:ext cx="822600" cy="138960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TextBox 31"/>
          <p:cNvSpPr/>
          <p:nvPr/>
        </p:nvSpPr>
        <p:spPr>
          <a:xfrm>
            <a:off x="6309360" y="5312520"/>
            <a:ext cx="8226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REALITY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20" name="TextBox 32"/>
          <p:cNvSpPr/>
          <p:nvPr/>
        </p:nvSpPr>
        <p:spPr>
          <a:xfrm>
            <a:off x="7269480" y="5056560"/>
            <a:ext cx="43430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0d2137"/>
                </a:solidFill>
                <a:latin typeface="Calibri"/>
              </a:rPr>
              <a:t>FinOps is continuous — like DevOps. You run Inform → Optimize → Operate every month, indefinitely.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21" name="TextBox 33"/>
          <p:cNvSpPr/>
          <p:nvPr/>
        </p:nvSpPr>
        <p:spPr>
          <a:xfrm>
            <a:off x="11247120" y="6492240"/>
            <a:ext cx="8226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88780"/>
                </a:solidFill>
                <a:latin typeface="Calibri"/>
              </a:rPr>
              <a:t>3 / 10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Rectangle 3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5" name="TextBox 4"/>
          <p:cNvSpPr/>
          <p:nvPr/>
        </p:nvSpPr>
        <p:spPr>
          <a:xfrm>
            <a:off x="420480" y="201240"/>
            <a:ext cx="10515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The 6 FinOps Principles (2025)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420480" y="1371600"/>
            <a:ext cx="114296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888780"/>
                </a:solidFill>
                <a:latin typeface="Calibri"/>
              </a:rPr>
              <a:t>These are the values behind every FinOps decision — memorise them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27" name="Rectangle 6"/>
          <p:cNvSpPr/>
          <p:nvPr/>
        </p:nvSpPr>
        <p:spPr>
          <a:xfrm>
            <a:off x="411480" y="1691640"/>
            <a:ext cx="3474360" cy="2084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8" name="Rectangle 7"/>
          <p:cNvSpPr/>
          <p:nvPr/>
        </p:nvSpPr>
        <p:spPr>
          <a:xfrm>
            <a:off x="411480" y="1691640"/>
            <a:ext cx="639720" cy="208440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TextBox 8"/>
          <p:cNvSpPr/>
          <p:nvPr/>
        </p:nvSpPr>
        <p:spPr>
          <a:xfrm>
            <a:off x="411480" y="2404800"/>
            <a:ext cx="63972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0" name="TextBox 9"/>
          <p:cNvSpPr/>
          <p:nvPr/>
        </p:nvSpPr>
        <p:spPr>
          <a:xfrm>
            <a:off x="1143000" y="1801440"/>
            <a:ext cx="2605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50" spc="-1" strike="noStrike">
                <a:solidFill>
                  <a:srgbClr val="0d2137"/>
                </a:solidFill>
                <a:latin typeface="Calibri"/>
              </a:rPr>
              <a:t>Collaborate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31" name="TextBox 10"/>
          <p:cNvSpPr/>
          <p:nvPr/>
        </p:nvSpPr>
        <p:spPr>
          <a:xfrm>
            <a:off x="1143000" y="2286000"/>
            <a:ext cx="260568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Engineering, Finance &amp; Business work together — no silos.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32" name="Rectangle 11"/>
          <p:cNvSpPr/>
          <p:nvPr/>
        </p:nvSpPr>
        <p:spPr>
          <a:xfrm>
            <a:off x="4160520" y="1691640"/>
            <a:ext cx="3474360" cy="2084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3" name="Rectangle 12"/>
          <p:cNvSpPr/>
          <p:nvPr/>
        </p:nvSpPr>
        <p:spPr>
          <a:xfrm>
            <a:off x="4160520" y="1691640"/>
            <a:ext cx="639720" cy="2084400"/>
          </a:xfrm>
          <a:prstGeom prst="rect">
            <a:avLst/>
          </a:prstGeom>
          <a:solidFill>
            <a:srgbClr val="3c34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TextBox 13"/>
          <p:cNvSpPr/>
          <p:nvPr/>
        </p:nvSpPr>
        <p:spPr>
          <a:xfrm>
            <a:off x="4160520" y="2404800"/>
            <a:ext cx="63972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5" name="TextBox 14"/>
          <p:cNvSpPr/>
          <p:nvPr/>
        </p:nvSpPr>
        <p:spPr>
          <a:xfrm>
            <a:off x="4892040" y="1801440"/>
            <a:ext cx="2605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50" spc="-1" strike="noStrike">
                <a:solidFill>
                  <a:srgbClr val="0d2137"/>
                </a:solidFill>
                <a:latin typeface="Calibri"/>
              </a:rPr>
              <a:t>Everyone Owns Costs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36" name="TextBox 15"/>
          <p:cNvSpPr/>
          <p:nvPr/>
        </p:nvSpPr>
        <p:spPr>
          <a:xfrm>
            <a:off x="4892040" y="2286000"/>
            <a:ext cx="260568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The team that deploys a resource is responsible for its cost.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37" name="Rectangle 16"/>
          <p:cNvSpPr/>
          <p:nvPr/>
        </p:nvSpPr>
        <p:spPr>
          <a:xfrm>
            <a:off x="7909560" y="1691640"/>
            <a:ext cx="3474360" cy="2084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Rectangle 17"/>
          <p:cNvSpPr/>
          <p:nvPr/>
        </p:nvSpPr>
        <p:spPr>
          <a:xfrm>
            <a:off x="7909560" y="1691640"/>
            <a:ext cx="639720" cy="208440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9" name="TextBox 18"/>
          <p:cNvSpPr/>
          <p:nvPr/>
        </p:nvSpPr>
        <p:spPr>
          <a:xfrm>
            <a:off x="7909560" y="2404800"/>
            <a:ext cx="63972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40" name="TextBox 19"/>
          <p:cNvSpPr/>
          <p:nvPr/>
        </p:nvSpPr>
        <p:spPr>
          <a:xfrm>
            <a:off x="8641080" y="1801440"/>
            <a:ext cx="2605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50" spc="-1" strike="noStrike">
                <a:solidFill>
                  <a:srgbClr val="0d2137"/>
                </a:solidFill>
                <a:latin typeface="Calibri"/>
              </a:rPr>
              <a:t>FinOps Enables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41" name="TextBox 20"/>
          <p:cNvSpPr/>
          <p:nvPr/>
        </p:nvSpPr>
        <p:spPr>
          <a:xfrm>
            <a:off x="8641080" y="2286000"/>
            <a:ext cx="260568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FinOps team is a coach and facilitator — not a cost police.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42" name="Rectangle 21"/>
          <p:cNvSpPr/>
          <p:nvPr/>
        </p:nvSpPr>
        <p:spPr>
          <a:xfrm>
            <a:off x="411480" y="4023360"/>
            <a:ext cx="3474360" cy="2084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Rectangle 22"/>
          <p:cNvSpPr/>
          <p:nvPr/>
        </p:nvSpPr>
        <p:spPr>
          <a:xfrm>
            <a:off x="411480" y="4023360"/>
            <a:ext cx="639720" cy="208440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TextBox 23"/>
          <p:cNvSpPr/>
          <p:nvPr/>
        </p:nvSpPr>
        <p:spPr>
          <a:xfrm>
            <a:off x="411480" y="4736520"/>
            <a:ext cx="63972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04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45" name="TextBox 24"/>
          <p:cNvSpPr/>
          <p:nvPr/>
        </p:nvSpPr>
        <p:spPr>
          <a:xfrm>
            <a:off x="1143000" y="4133160"/>
            <a:ext cx="2605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50" spc="-1" strike="noStrike">
                <a:solidFill>
                  <a:srgbClr val="0d2137"/>
                </a:solidFill>
                <a:latin typeface="Calibri"/>
              </a:rPr>
              <a:t>Timely Data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46" name="TextBox 25"/>
          <p:cNvSpPr/>
          <p:nvPr/>
        </p:nvSpPr>
        <p:spPr>
          <a:xfrm>
            <a:off x="1143000" y="4617720"/>
            <a:ext cx="2605680" cy="59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Real-time cost visibility for everyone. No month-end surprises.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47" name="Rectangle 26"/>
          <p:cNvSpPr/>
          <p:nvPr/>
        </p:nvSpPr>
        <p:spPr>
          <a:xfrm>
            <a:off x="4160520" y="4023360"/>
            <a:ext cx="3474360" cy="2084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Rectangle 27"/>
          <p:cNvSpPr/>
          <p:nvPr/>
        </p:nvSpPr>
        <p:spPr>
          <a:xfrm>
            <a:off x="4160520" y="4023360"/>
            <a:ext cx="639720" cy="2084400"/>
          </a:xfrm>
          <a:prstGeom prst="rect">
            <a:avLst/>
          </a:prstGeom>
          <a:solidFill>
            <a:srgbClr val="ba751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9" name="TextBox 28"/>
          <p:cNvSpPr/>
          <p:nvPr/>
        </p:nvSpPr>
        <p:spPr>
          <a:xfrm>
            <a:off x="4160520" y="4736520"/>
            <a:ext cx="63972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05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50" name="TextBox 29"/>
          <p:cNvSpPr/>
          <p:nvPr/>
        </p:nvSpPr>
        <p:spPr>
          <a:xfrm>
            <a:off x="4892040" y="4133160"/>
            <a:ext cx="2605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50" spc="-1" strike="noStrike">
                <a:solidFill>
                  <a:srgbClr val="0d2137"/>
                </a:solidFill>
                <a:latin typeface="Calibri"/>
              </a:rPr>
              <a:t>Business Value First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51" name="TextBox 30"/>
          <p:cNvSpPr/>
          <p:nvPr/>
        </p:nvSpPr>
        <p:spPr>
          <a:xfrm>
            <a:off x="4892040" y="4617720"/>
            <a:ext cx="260568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ROI and business impact matter more than just cutting the bill.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52" name="Rectangle 31"/>
          <p:cNvSpPr/>
          <p:nvPr/>
        </p:nvSpPr>
        <p:spPr>
          <a:xfrm>
            <a:off x="7909560" y="4023360"/>
            <a:ext cx="3474360" cy="2084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3" name="Rectangle 32"/>
          <p:cNvSpPr/>
          <p:nvPr/>
        </p:nvSpPr>
        <p:spPr>
          <a:xfrm>
            <a:off x="7909560" y="4023360"/>
            <a:ext cx="639720" cy="208440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4" name="TextBox 33"/>
          <p:cNvSpPr/>
          <p:nvPr/>
        </p:nvSpPr>
        <p:spPr>
          <a:xfrm>
            <a:off x="7909560" y="4736520"/>
            <a:ext cx="63972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06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55" name="TextBox 34"/>
          <p:cNvSpPr/>
          <p:nvPr/>
        </p:nvSpPr>
        <p:spPr>
          <a:xfrm>
            <a:off x="8641080" y="4133160"/>
            <a:ext cx="2605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50" spc="-1" strike="noStrike">
                <a:solidFill>
                  <a:srgbClr val="0d2137"/>
                </a:solidFill>
                <a:latin typeface="Calibri"/>
              </a:rPr>
              <a:t>Variable Cost Model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56" name="TextBox 35"/>
          <p:cNvSpPr/>
          <p:nvPr/>
        </p:nvSpPr>
        <p:spPr>
          <a:xfrm>
            <a:off x="8641080" y="4617720"/>
            <a:ext cx="260568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Cloud is pay-as-you-go — treat that flexibility as a strategy.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57" name="TextBox 36"/>
          <p:cNvSpPr/>
          <p:nvPr/>
        </p:nvSpPr>
        <p:spPr>
          <a:xfrm>
            <a:off x="11247120" y="6492240"/>
            <a:ext cx="8226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88780"/>
                </a:solidFill>
                <a:latin typeface="Calibri"/>
              </a:rPr>
              <a:t>4 / 10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9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Rectangle 3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1" name="TextBox 4"/>
          <p:cNvSpPr/>
          <p:nvPr/>
        </p:nvSpPr>
        <p:spPr>
          <a:xfrm>
            <a:off x="420480" y="201240"/>
            <a:ext cx="10515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The FinOps Lifecycle: 3 Phases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62" name="TextBox 5"/>
          <p:cNvSpPr/>
          <p:nvPr/>
        </p:nvSpPr>
        <p:spPr>
          <a:xfrm>
            <a:off x="420480" y="1371600"/>
            <a:ext cx="114296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888780"/>
                </a:solidFill>
                <a:latin typeface="Calibri"/>
              </a:rPr>
              <a:t>Days 2, 3 and 4 each cover one phase — this is your course backbone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63" name="Rectangle 6"/>
          <p:cNvSpPr/>
          <p:nvPr/>
        </p:nvSpPr>
        <p:spPr>
          <a:xfrm>
            <a:off x="411480" y="1691640"/>
            <a:ext cx="3611520" cy="4663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Rectangle 7"/>
          <p:cNvSpPr/>
          <p:nvPr/>
        </p:nvSpPr>
        <p:spPr>
          <a:xfrm>
            <a:off x="411480" y="1691640"/>
            <a:ext cx="3611520" cy="9140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5" name="TextBox 8"/>
          <p:cNvSpPr/>
          <p:nvPr/>
        </p:nvSpPr>
        <p:spPr>
          <a:xfrm>
            <a:off x="411480" y="1710000"/>
            <a:ext cx="36115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INFORM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66" name="TextBox 9"/>
          <p:cNvSpPr/>
          <p:nvPr/>
        </p:nvSpPr>
        <p:spPr>
          <a:xfrm>
            <a:off x="411480" y="2267640"/>
            <a:ext cx="361152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Visibility &amp; Allocation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7" name="Rectangle 10"/>
          <p:cNvSpPr/>
          <p:nvPr/>
        </p:nvSpPr>
        <p:spPr>
          <a:xfrm>
            <a:off x="2926080" y="1737360"/>
            <a:ext cx="1005480" cy="328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8" name="TextBox 11"/>
          <p:cNvSpPr/>
          <p:nvPr/>
        </p:nvSpPr>
        <p:spPr>
          <a:xfrm>
            <a:off x="2926080" y="1737360"/>
            <a:ext cx="100548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0f6e56"/>
                </a:solidFill>
                <a:latin typeface="Calibri"/>
              </a:rPr>
              <a:t>Day 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9" name="TextBox 12"/>
          <p:cNvSpPr/>
          <p:nvPr/>
        </p:nvSpPr>
        <p:spPr>
          <a:xfrm>
            <a:off x="548640" y="2724840"/>
            <a:ext cx="333720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What are we spending?</a:t>
            </a:r>
            <a:endParaRPr b="0" lang="en-US" sz="1250" spc="-1" strike="noStrike">
              <a:latin typeface="Arial"/>
            </a:endParaRPr>
          </a:p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Who owns which resource?</a:t>
            </a:r>
            <a:endParaRPr b="0" lang="en-US" sz="1250" spc="-1" strike="noStrike">
              <a:latin typeface="Arial"/>
            </a:endParaRPr>
          </a:p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Which team drives which cost?</a:t>
            </a:r>
            <a:endParaRPr b="0" lang="en-US" sz="1250" spc="-1" strike="noStrike">
              <a:latin typeface="Arial"/>
            </a:endParaRPr>
          </a:p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Build cost dashboards &amp; reports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70" name="Rectangle 13"/>
          <p:cNvSpPr/>
          <p:nvPr/>
        </p:nvSpPr>
        <p:spPr>
          <a:xfrm>
            <a:off x="411480" y="5989320"/>
            <a:ext cx="3611520" cy="36540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TextBox 14"/>
          <p:cNvSpPr/>
          <p:nvPr/>
        </p:nvSpPr>
        <p:spPr>
          <a:xfrm>
            <a:off x="502920" y="5989320"/>
            <a:ext cx="342864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050" spc="-1" strike="noStrike">
                <a:solidFill>
                  <a:srgbClr val="ffffff"/>
                </a:solidFill>
                <a:latin typeface="Calibri"/>
              </a:rPr>
              <a:t>Without visibility, optimization is impossible.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72" name="Rectangle 15"/>
          <p:cNvSpPr/>
          <p:nvPr/>
        </p:nvSpPr>
        <p:spPr>
          <a:xfrm>
            <a:off x="4343400" y="1691640"/>
            <a:ext cx="3611520" cy="4663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3" name="Rectangle 16"/>
          <p:cNvSpPr/>
          <p:nvPr/>
        </p:nvSpPr>
        <p:spPr>
          <a:xfrm>
            <a:off x="4343400" y="1691640"/>
            <a:ext cx="3611520" cy="914040"/>
          </a:xfrm>
          <a:prstGeom prst="rect">
            <a:avLst/>
          </a:prstGeom>
          <a:solidFill>
            <a:srgbClr val="3c34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4" name="TextBox 17"/>
          <p:cNvSpPr/>
          <p:nvPr/>
        </p:nvSpPr>
        <p:spPr>
          <a:xfrm>
            <a:off x="4343400" y="1710000"/>
            <a:ext cx="36115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OPTIMIZE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75" name="TextBox 18"/>
          <p:cNvSpPr/>
          <p:nvPr/>
        </p:nvSpPr>
        <p:spPr>
          <a:xfrm>
            <a:off x="4343400" y="2267640"/>
            <a:ext cx="361152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Cost Reduction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76" name="Rectangle 19"/>
          <p:cNvSpPr/>
          <p:nvPr/>
        </p:nvSpPr>
        <p:spPr>
          <a:xfrm>
            <a:off x="6858000" y="1737360"/>
            <a:ext cx="1005480" cy="328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7" name="TextBox 20"/>
          <p:cNvSpPr/>
          <p:nvPr/>
        </p:nvSpPr>
        <p:spPr>
          <a:xfrm>
            <a:off x="6858000" y="1737360"/>
            <a:ext cx="100548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c3489"/>
                </a:solidFill>
                <a:latin typeface="Calibri"/>
              </a:rPr>
              <a:t>Day 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78" name="TextBox 21"/>
          <p:cNvSpPr/>
          <p:nvPr/>
        </p:nvSpPr>
        <p:spPr>
          <a:xfrm>
            <a:off x="4480560" y="2724840"/>
            <a:ext cx="3337200" cy="11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Where is the waste?</a:t>
            </a:r>
            <a:endParaRPr b="0" lang="en-US" sz="1250" spc="-1" strike="noStrike">
              <a:latin typeface="Arial"/>
            </a:endParaRPr>
          </a:p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What can we rightsize?</a:t>
            </a:r>
            <a:endParaRPr b="0" lang="en-US" sz="1250" spc="-1" strike="noStrike">
              <a:latin typeface="Arial"/>
            </a:endParaRPr>
          </a:p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Which discounts should we commit to?</a:t>
            </a:r>
            <a:endParaRPr b="0" lang="en-US" sz="1250" spc="-1" strike="noStrike">
              <a:latin typeface="Arial"/>
            </a:endParaRPr>
          </a:p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Cut cost without cutting value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79" name="Rectangle 22"/>
          <p:cNvSpPr/>
          <p:nvPr/>
        </p:nvSpPr>
        <p:spPr>
          <a:xfrm>
            <a:off x="4343400" y="5989320"/>
            <a:ext cx="3611520" cy="365400"/>
          </a:xfrm>
          <a:prstGeom prst="rect">
            <a:avLst/>
          </a:prstGeom>
          <a:solidFill>
            <a:srgbClr val="3c34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0" name="TextBox 23"/>
          <p:cNvSpPr/>
          <p:nvPr/>
        </p:nvSpPr>
        <p:spPr>
          <a:xfrm>
            <a:off x="4434840" y="5989320"/>
            <a:ext cx="342864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050" spc="-1" strike="noStrike">
                <a:solidFill>
                  <a:srgbClr val="ffffff"/>
                </a:solidFill>
                <a:latin typeface="Calibri"/>
              </a:rPr>
              <a:t>Eliminate waste. Match spend to actual need.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81" name="Rectangle 24"/>
          <p:cNvSpPr/>
          <p:nvPr/>
        </p:nvSpPr>
        <p:spPr>
          <a:xfrm>
            <a:off x="8275320" y="1691640"/>
            <a:ext cx="3611520" cy="4663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2" name="Rectangle 25"/>
          <p:cNvSpPr/>
          <p:nvPr/>
        </p:nvSpPr>
        <p:spPr>
          <a:xfrm>
            <a:off x="8275320" y="1691640"/>
            <a:ext cx="3611520" cy="91404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3" name="TextBox 26"/>
          <p:cNvSpPr/>
          <p:nvPr/>
        </p:nvSpPr>
        <p:spPr>
          <a:xfrm>
            <a:off x="8275320" y="1710000"/>
            <a:ext cx="36115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OPERATE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84" name="TextBox 27"/>
          <p:cNvSpPr/>
          <p:nvPr/>
        </p:nvSpPr>
        <p:spPr>
          <a:xfrm>
            <a:off x="8275320" y="2267640"/>
            <a:ext cx="361152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Governance &amp; Control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5" name="Rectangle 28"/>
          <p:cNvSpPr/>
          <p:nvPr/>
        </p:nvSpPr>
        <p:spPr>
          <a:xfrm>
            <a:off x="10789920" y="1737360"/>
            <a:ext cx="1005480" cy="328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6" name="TextBox 29"/>
          <p:cNvSpPr/>
          <p:nvPr/>
        </p:nvSpPr>
        <p:spPr>
          <a:xfrm>
            <a:off x="10789920" y="1737360"/>
            <a:ext cx="100548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993c1d"/>
                </a:solidFill>
                <a:latin typeface="Calibri"/>
              </a:rPr>
              <a:t>Day 4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7" name="TextBox 30"/>
          <p:cNvSpPr/>
          <p:nvPr/>
        </p:nvSpPr>
        <p:spPr>
          <a:xfrm>
            <a:off x="8412480" y="2724840"/>
            <a:ext cx="333720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Who is accountable for what?</a:t>
            </a:r>
            <a:endParaRPr b="0" lang="en-US" sz="1250" spc="-1" strike="noStrike">
              <a:latin typeface="Arial"/>
            </a:endParaRPr>
          </a:p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What are our budgets &amp; alerts?</a:t>
            </a:r>
            <a:endParaRPr b="0" lang="en-US" sz="1250" spc="-1" strike="noStrike">
              <a:latin typeface="Arial"/>
            </a:endParaRPr>
          </a:p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How do we forecast?</a:t>
            </a:r>
            <a:endParaRPr b="0" lang="en-US" sz="1250" spc="-1" strike="noStrike">
              <a:latin typeface="Arial"/>
            </a:endParaRPr>
          </a:p>
          <a:p>
            <a:pPr marL="201240" indent="-201240">
              <a:lnSpc>
                <a:spcPct val="100000"/>
              </a:lnSpc>
              <a:spcAft>
                <a:spcPts val="400"/>
              </a:spcAft>
              <a:buClr>
                <a:srgbClr val="444441"/>
              </a:buClr>
              <a:buFont typeface="Wingdings 3" charset="2"/>
              <a:buChar char=""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Are we CBN-compliant?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88" name="Rectangle 31"/>
          <p:cNvSpPr/>
          <p:nvPr/>
        </p:nvSpPr>
        <p:spPr>
          <a:xfrm>
            <a:off x="8275320" y="5989320"/>
            <a:ext cx="3611520" cy="36540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9" name="TextBox 32"/>
          <p:cNvSpPr/>
          <p:nvPr/>
        </p:nvSpPr>
        <p:spPr>
          <a:xfrm>
            <a:off x="8366760" y="5989320"/>
            <a:ext cx="342864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050" spc="-1" strike="noStrike">
                <a:solidFill>
                  <a:srgbClr val="ffffff"/>
                </a:solidFill>
                <a:latin typeface="Calibri"/>
              </a:rPr>
              <a:t>Make FinOps continuous, not a one-off project.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90" name="TextBox 33"/>
          <p:cNvSpPr/>
          <p:nvPr/>
        </p:nvSpPr>
        <p:spPr>
          <a:xfrm>
            <a:off x="4023360" y="3657600"/>
            <a:ext cx="456840" cy="4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d3d1c7"/>
                </a:solidFill>
                <a:latin typeface="Calibri"/>
              </a:rPr>
              <a:t>→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91" name="TextBox 34"/>
          <p:cNvSpPr/>
          <p:nvPr/>
        </p:nvSpPr>
        <p:spPr>
          <a:xfrm>
            <a:off x="7955280" y="3657600"/>
            <a:ext cx="456840" cy="4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d3d1c7"/>
                </a:solidFill>
                <a:latin typeface="Calibri"/>
              </a:rPr>
              <a:t>→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92" name="TextBox 35"/>
          <p:cNvSpPr/>
          <p:nvPr/>
        </p:nvSpPr>
        <p:spPr>
          <a:xfrm>
            <a:off x="11247120" y="6492240"/>
            <a:ext cx="8226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88780"/>
                </a:solidFill>
                <a:latin typeface="Calibri"/>
              </a:rPr>
              <a:t>5 / 10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4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5" name="Rectangle 3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TextBox 4"/>
          <p:cNvSpPr/>
          <p:nvPr/>
        </p:nvSpPr>
        <p:spPr>
          <a:xfrm>
            <a:off x="420480" y="201240"/>
            <a:ext cx="10515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Who Is Involved in FinOps?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97" name="TextBox 5"/>
          <p:cNvSpPr/>
          <p:nvPr/>
        </p:nvSpPr>
        <p:spPr>
          <a:xfrm>
            <a:off x="420480" y="1371600"/>
            <a:ext cx="114296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888780"/>
                </a:solidFill>
                <a:latin typeface="Calibri"/>
              </a:rPr>
              <a:t>Every person in this room has a role — let's identify them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98" name="Rectangle 6"/>
          <p:cNvSpPr/>
          <p:nvPr/>
        </p:nvSpPr>
        <p:spPr>
          <a:xfrm>
            <a:off x="457200" y="1737360"/>
            <a:ext cx="3565800" cy="2011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9" name="Rectangle 7"/>
          <p:cNvSpPr/>
          <p:nvPr/>
        </p:nvSpPr>
        <p:spPr>
          <a:xfrm>
            <a:off x="457200" y="1737360"/>
            <a:ext cx="3565800" cy="54828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0" name="TextBox 8"/>
          <p:cNvSpPr/>
          <p:nvPr/>
        </p:nvSpPr>
        <p:spPr>
          <a:xfrm>
            <a:off x="457200" y="1783080"/>
            <a:ext cx="35658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FinOps Practitioner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1" name="TextBox 9"/>
          <p:cNvSpPr/>
          <p:nvPr/>
        </p:nvSpPr>
        <p:spPr>
          <a:xfrm>
            <a:off x="567000" y="2395800"/>
            <a:ext cx="33462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Owns the FinOps practice.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Sets standards, tools &amp; reporting.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02" name="Rectangle 10"/>
          <p:cNvSpPr/>
          <p:nvPr/>
        </p:nvSpPr>
        <p:spPr>
          <a:xfrm>
            <a:off x="4343400" y="1737360"/>
            <a:ext cx="3565800" cy="2011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Rectangle 11"/>
          <p:cNvSpPr/>
          <p:nvPr/>
        </p:nvSpPr>
        <p:spPr>
          <a:xfrm>
            <a:off x="4343400" y="1737360"/>
            <a:ext cx="3565800" cy="54828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4" name="TextBox 12"/>
          <p:cNvSpPr/>
          <p:nvPr/>
        </p:nvSpPr>
        <p:spPr>
          <a:xfrm>
            <a:off x="4343400" y="1783080"/>
            <a:ext cx="35658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FinOps Champion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5" name="TextBox 13"/>
          <p:cNvSpPr/>
          <p:nvPr/>
        </p:nvSpPr>
        <p:spPr>
          <a:xfrm>
            <a:off x="4453200" y="2395800"/>
            <a:ext cx="33462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Embedded in each team.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Your local FinOps ambassador.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06" name="Rectangle 14"/>
          <p:cNvSpPr/>
          <p:nvPr/>
        </p:nvSpPr>
        <p:spPr>
          <a:xfrm>
            <a:off x="8229600" y="1737360"/>
            <a:ext cx="3565800" cy="2011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Rectangle 15"/>
          <p:cNvSpPr/>
          <p:nvPr/>
        </p:nvSpPr>
        <p:spPr>
          <a:xfrm>
            <a:off x="8229600" y="1737360"/>
            <a:ext cx="3565800" cy="548280"/>
          </a:xfrm>
          <a:prstGeom prst="rect">
            <a:avLst/>
          </a:prstGeom>
          <a:solidFill>
            <a:srgbClr val="3c34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8" name="TextBox 16"/>
          <p:cNvSpPr/>
          <p:nvPr/>
        </p:nvSpPr>
        <p:spPr>
          <a:xfrm>
            <a:off x="8229600" y="1783080"/>
            <a:ext cx="35658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Cloud Engineer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9" name="TextBox 17"/>
          <p:cNvSpPr/>
          <p:nvPr/>
        </p:nvSpPr>
        <p:spPr>
          <a:xfrm>
            <a:off x="8339400" y="2395800"/>
            <a:ext cx="33462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Implements optimisations.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Enforces tagging standards.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10" name="Rectangle 18"/>
          <p:cNvSpPr/>
          <p:nvPr/>
        </p:nvSpPr>
        <p:spPr>
          <a:xfrm>
            <a:off x="457200" y="4069080"/>
            <a:ext cx="3565800" cy="2011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1" name="Rectangle 19"/>
          <p:cNvSpPr/>
          <p:nvPr/>
        </p:nvSpPr>
        <p:spPr>
          <a:xfrm>
            <a:off x="457200" y="4069080"/>
            <a:ext cx="3565800" cy="548280"/>
          </a:xfrm>
          <a:prstGeom prst="rect">
            <a:avLst/>
          </a:prstGeom>
          <a:solidFill>
            <a:srgbClr val="ba751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2" name="TextBox 20"/>
          <p:cNvSpPr/>
          <p:nvPr/>
        </p:nvSpPr>
        <p:spPr>
          <a:xfrm>
            <a:off x="457200" y="4114800"/>
            <a:ext cx="35658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Finance / Procurement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13" name="TextBox 21"/>
          <p:cNvSpPr/>
          <p:nvPr/>
        </p:nvSpPr>
        <p:spPr>
          <a:xfrm>
            <a:off x="567000" y="4727520"/>
            <a:ext cx="33462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Manages budgets, forecasts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&amp; vendor contracts.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14" name="Rectangle 22"/>
          <p:cNvSpPr/>
          <p:nvPr/>
        </p:nvSpPr>
        <p:spPr>
          <a:xfrm>
            <a:off x="4343400" y="4069080"/>
            <a:ext cx="3565800" cy="2011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5" name="Rectangle 23"/>
          <p:cNvSpPr/>
          <p:nvPr/>
        </p:nvSpPr>
        <p:spPr>
          <a:xfrm>
            <a:off x="4343400" y="4069080"/>
            <a:ext cx="3565800" cy="54828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6" name="TextBox 24"/>
          <p:cNvSpPr/>
          <p:nvPr/>
        </p:nvSpPr>
        <p:spPr>
          <a:xfrm>
            <a:off x="4343400" y="4114800"/>
            <a:ext cx="35658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Product Owner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17" name="TextBox 25"/>
          <p:cNvSpPr/>
          <p:nvPr/>
        </p:nvSpPr>
        <p:spPr>
          <a:xfrm>
            <a:off x="4453200" y="4727520"/>
            <a:ext cx="33462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Makes cost vs. feature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trade-off decisions.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18" name="Rectangle 26"/>
          <p:cNvSpPr/>
          <p:nvPr/>
        </p:nvSpPr>
        <p:spPr>
          <a:xfrm>
            <a:off x="8229600" y="4069080"/>
            <a:ext cx="3565800" cy="2011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9" name="Rectangle 27"/>
          <p:cNvSpPr/>
          <p:nvPr/>
        </p:nvSpPr>
        <p:spPr>
          <a:xfrm>
            <a:off x="8229600" y="4069080"/>
            <a:ext cx="3565800" cy="54828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0" name="TextBox 28"/>
          <p:cNvSpPr/>
          <p:nvPr/>
        </p:nvSpPr>
        <p:spPr>
          <a:xfrm>
            <a:off x="8229600" y="4114800"/>
            <a:ext cx="35658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Leadership / CISO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1" name="TextBox 29"/>
          <p:cNvSpPr/>
          <p:nvPr/>
        </p:nvSpPr>
        <p:spPr>
          <a:xfrm>
            <a:off x="8339400" y="4727520"/>
            <a:ext cx="33462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Sets policy, approves budgets,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ensures CBN compliance.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22" name="TextBox 30"/>
          <p:cNvSpPr/>
          <p:nvPr/>
        </p:nvSpPr>
        <p:spPr>
          <a:xfrm>
            <a:off x="11247120" y="6492240"/>
            <a:ext cx="8226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88780"/>
                </a:solidFill>
                <a:latin typeface="Calibri"/>
              </a:rPr>
              <a:t>6 / 10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4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5" name="Rectangle 3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TextBox 4"/>
          <p:cNvSpPr/>
          <p:nvPr/>
        </p:nvSpPr>
        <p:spPr>
          <a:xfrm>
            <a:off x="420480" y="201240"/>
            <a:ext cx="10515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Business Case &amp; Governance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227" name="TextBox 5"/>
          <p:cNvSpPr/>
          <p:nvPr/>
        </p:nvSpPr>
        <p:spPr>
          <a:xfrm>
            <a:off x="420480" y="1371600"/>
            <a:ext cx="114296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888780"/>
                </a:solidFill>
                <a:latin typeface="Calibri"/>
              </a:rPr>
              <a:t>Why FinOps is urgent for microfinance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28" name="Rectangle 6"/>
          <p:cNvSpPr/>
          <p:nvPr/>
        </p:nvSpPr>
        <p:spPr>
          <a:xfrm>
            <a:off x="457200" y="1719000"/>
            <a:ext cx="5559120" cy="2057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9" name="Rectangle 7"/>
          <p:cNvSpPr/>
          <p:nvPr/>
        </p:nvSpPr>
        <p:spPr>
          <a:xfrm>
            <a:off x="457200" y="1719000"/>
            <a:ext cx="959760" cy="20570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0" name="TextBox 8"/>
          <p:cNvSpPr/>
          <p:nvPr/>
        </p:nvSpPr>
        <p:spPr>
          <a:xfrm>
            <a:off x="511920" y="2377440"/>
            <a:ext cx="86832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Thin Margins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31" name="TextBox 9"/>
          <p:cNvSpPr/>
          <p:nvPr/>
        </p:nvSpPr>
        <p:spPr>
          <a:xfrm>
            <a:off x="1554480" y="1920240"/>
            <a:ext cx="43156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Small percentage savings materially improve sustainability and pricing.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32" name="Rectangle 10"/>
          <p:cNvSpPr/>
          <p:nvPr/>
        </p:nvSpPr>
        <p:spPr>
          <a:xfrm>
            <a:off x="6327720" y="1719000"/>
            <a:ext cx="5559120" cy="2057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3" name="Rectangle 11"/>
          <p:cNvSpPr/>
          <p:nvPr/>
        </p:nvSpPr>
        <p:spPr>
          <a:xfrm>
            <a:off x="6327720" y="1719000"/>
            <a:ext cx="959760" cy="2057040"/>
          </a:xfrm>
          <a:prstGeom prst="rect">
            <a:avLst/>
          </a:prstGeom>
          <a:solidFill>
            <a:srgbClr val="3c34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4" name="TextBox 12"/>
          <p:cNvSpPr/>
          <p:nvPr/>
        </p:nvSpPr>
        <p:spPr>
          <a:xfrm>
            <a:off x="6382440" y="2377440"/>
            <a:ext cx="868320" cy="59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Unit Economics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35" name="TextBox 13"/>
          <p:cNvSpPr/>
          <p:nvPr/>
        </p:nvSpPr>
        <p:spPr>
          <a:xfrm>
            <a:off x="7425000" y="1920240"/>
            <a:ext cx="43156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Track cost per loan, per transaction, and per active customer.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36" name="Rectangle 14"/>
          <p:cNvSpPr/>
          <p:nvPr/>
        </p:nvSpPr>
        <p:spPr>
          <a:xfrm>
            <a:off x="457200" y="4050720"/>
            <a:ext cx="5559120" cy="2057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7" name="Rectangle 15"/>
          <p:cNvSpPr/>
          <p:nvPr/>
        </p:nvSpPr>
        <p:spPr>
          <a:xfrm>
            <a:off x="457200" y="4050720"/>
            <a:ext cx="959760" cy="2057040"/>
          </a:xfrm>
          <a:prstGeom prst="rect">
            <a:avLst/>
          </a:prstGeom>
          <a:solidFill>
            <a:srgbClr val="ba751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8" name="TextBox 16"/>
          <p:cNvSpPr/>
          <p:nvPr/>
        </p:nvSpPr>
        <p:spPr>
          <a:xfrm>
            <a:off x="511920" y="4709160"/>
            <a:ext cx="86832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Regulatory Audit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39" name="TextBox 17"/>
          <p:cNvSpPr/>
          <p:nvPr/>
        </p:nvSpPr>
        <p:spPr>
          <a:xfrm>
            <a:off x="1554480" y="4251960"/>
            <a:ext cx="43156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CBN compliance needs clear approval trails and spend accountability.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40" name="Rectangle 18"/>
          <p:cNvSpPr/>
          <p:nvPr/>
        </p:nvSpPr>
        <p:spPr>
          <a:xfrm>
            <a:off x="6327720" y="4050720"/>
            <a:ext cx="5559120" cy="2057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1" name="Rectangle 19"/>
          <p:cNvSpPr/>
          <p:nvPr/>
        </p:nvSpPr>
        <p:spPr>
          <a:xfrm>
            <a:off x="6327720" y="4050720"/>
            <a:ext cx="959760" cy="205704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2" name="TextBox 20"/>
          <p:cNvSpPr/>
          <p:nvPr/>
        </p:nvSpPr>
        <p:spPr>
          <a:xfrm>
            <a:off x="6382440" y="4709160"/>
            <a:ext cx="868320" cy="59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Data Residency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43" name="TextBox 21"/>
          <p:cNvSpPr/>
          <p:nvPr/>
        </p:nvSpPr>
        <p:spPr>
          <a:xfrm>
            <a:off x="7425000" y="4251960"/>
            <a:ext cx="43156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444441"/>
                </a:solidFill>
                <a:latin typeface="Calibri"/>
              </a:rPr>
              <a:t>Region constraints increase costs; plan them explicitly in budgets.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44" name="TextBox 22"/>
          <p:cNvSpPr/>
          <p:nvPr/>
        </p:nvSpPr>
        <p:spPr>
          <a:xfrm>
            <a:off x="11247120" y="6492240"/>
            <a:ext cx="8226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88780"/>
                </a:solidFill>
                <a:latin typeface="Calibri"/>
              </a:rPr>
              <a:t>7 / 10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7" name="Rectangle 3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8" name="TextBox 4"/>
          <p:cNvSpPr/>
          <p:nvPr/>
        </p:nvSpPr>
        <p:spPr>
          <a:xfrm>
            <a:off x="420480" y="201240"/>
            <a:ext cx="10515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Key Terms to Know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249" name="TextBox 5"/>
          <p:cNvSpPr/>
          <p:nvPr/>
        </p:nvSpPr>
        <p:spPr>
          <a:xfrm>
            <a:off x="420480" y="1371600"/>
            <a:ext cx="114296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888780"/>
                </a:solidFill>
                <a:latin typeface="Calibri"/>
              </a:rPr>
              <a:t>Write every single one of these down — they appear in every session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50" name="Rectangle 6"/>
          <p:cNvSpPr/>
          <p:nvPr/>
        </p:nvSpPr>
        <p:spPr>
          <a:xfrm>
            <a:off x="411480" y="1719000"/>
            <a:ext cx="5559120" cy="82260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1" name="Rectangle 7"/>
          <p:cNvSpPr/>
          <p:nvPr/>
        </p:nvSpPr>
        <p:spPr>
          <a:xfrm>
            <a:off x="411480" y="1719000"/>
            <a:ext cx="91080" cy="82260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2" name="TextBox 8"/>
          <p:cNvSpPr/>
          <p:nvPr/>
        </p:nvSpPr>
        <p:spPr>
          <a:xfrm>
            <a:off x="594360" y="1774080"/>
            <a:ext cx="1919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</a:rPr>
              <a:t>Cloud Spend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53" name="TextBox 9"/>
          <p:cNvSpPr/>
          <p:nvPr/>
        </p:nvSpPr>
        <p:spPr>
          <a:xfrm>
            <a:off x="594360" y="2139840"/>
            <a:ext cx="52300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Total money paid to cloud providers (AWS / Azure / GCP).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54" name="Rectangle 10"/>
          <p:cNvSpPr/>
          <p:nvPr/>
        </p:nvSpPr>
        <p:spPr>
          <a:xfrm>
            <a:off x="6282000" y="1719000"/>
            <a:ext cx="5559120" cy="82260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5" name="Rectangle 11"/>
          <p:cNvSpPr/>
          <p:nvPr/>
        </p:nvSpPr>
        <p:spPr>
          <a:xfrm>
            <a:off x="6282000" y="1719000"/>
            <a:ext cx="91080" cy="82260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6" name="TextBox 12"/>
          <p:cNvSpPr/>
          <p:nvPr/>
        </p:nvSpPr>
        <p:spPr>
          <a:xfrm>
            <a:off x="6464880" y="1774080"/>
            <a:ext cx="1919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</a:rPr>
              <a:t>Chargeback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57" name="TextBox 13"/>
          <p:cNvSpPr/>
          <p:nvPr/>
        </p:nvSpPr>
        <p:spPr>
          <a:xfrm>
            <a:off x="6464880" y="2139840"/>
            <a:ext cx="52300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Allocating actual cloud costs back to a business unit's budget.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58" name="Rectangle 14"/>
          <p:cNvSpPr/>
          <p:nvPr/>
        </p:nvSpPr>
        <p:spPr>
          <a:xfrm>
            <a:off x="411480" y="2670120"/>
            <a:ext cx="5559120" cy="82260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9" name="Rectangle 15"/>
          <p:cNvSpPr/>
          <p:nvPr/>
        </p:nvSpPr>
        <p:spPr>
          <a:xfrm>
            <a:off x="411480" y="2670120"/>
            <a:ext cx="91080" cy="82260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0" name="TextBox 16"/>
          <p:cNvSpPr/>
          <p:nvPr/>
        </p:nvSpPr>
        <p:spPr>
          <a:xfrm>
            <a:off x="594360" y="2724840"/>
            <a:ext cx="1919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</a:rPr>
              <a:t>Showback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61" name="TextBox 17"/>
          <p:cNvSpPr/>
          <p:nvPr/>
        </p:nvSpPr>
        <p:spPr>
          <a:xfrm>
            <a:off x="594360" y="3090600"/>
            <a:ext cx="52300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Reporting costs to teams without actually charging their budget.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62" name="Rectangle 18"/>
          <p:cNvSpPr/>
          <p:nvPr/>
        </p:nvSpPr>
        <p:spPr>
          <a:xfrm>
            <a:off x="6282000" y="2670120"/>
            <a:ext cx="5559120" cy="82260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3" name="Rectangle 19"/>
          <p:cNvSpPr/>
          <p:nvPr/>
        </p:nvSpPr>
        <p:spPr>
          <a:xfrm>
            <a:off x="6282000" y="2670120"/>
            <a:ext cx="91080" cy="822600"/>
          </a:xfrm>
          <a:prstGeom prst="rect">
            <a:avLst/>
          </a:prstGeom>
          <a:solidFill>
            <a:srgbClr val="3c34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4" name="TextBox 20"/>
          <p:cNvSpPr/>
          <p:nvPr/>
        </p:nvSpPr>
        <p:spPr>
          <a:xfrm>
            <a:off x="6464880" y="2724840"/>
            <a:ext cx="1919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</a:rPr>
              <a:t>Unit Economics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65" name="TextBox 21"/>
          <p:cNvSpPr/>
          <p:nvPr/>
        </p:nvSpPr>
        <p:spPr>
          <a:xfrm>
            <a:off x="6464880" y="3090600"/>
            <a:ext cx="52300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Cost per business outcome — e.g. cost per loan disbursed.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66" name="Rectangle 22"/>
          <p:cNvSpPr/>
          <p:nvPr/>
        </p:nvSpPr>
        <p:spPr>
          <a:xfrm>
            <a:off x="411480" y="3620880"/>
            <a:ext cx="5559120" cy="82260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7" name="Rectangle 23"/>
          <p:cNvSpPr/>
          <p:nvPr/>
        </p:nvSpPr>
        <p:spPr>
          <a:xfrm>
            <a:off x="411480" y="3620880"/>
            <a:ext cx="91080" cy="822600"/>
          </a:xfrm>
          <a:prstGeom prst="rect">
            <a:avLst/>
          </a:prstGeom>
          <a:solidFill>
            <a:srgbClr val="3c34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8" name="TextBox 24"/>
          <p:cNvSpPr/>
          <p:nvPr/>
        </p:nvSpPr>
        <p:spPr>
          <a:xfrm>
            <a:off x="594360" y="3675960"/>
            <a:ext cx="1919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</a:rPr>
              <a:t>FinOps Champion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69" name="TextBox 25"/>
          <p:cNvSpPr/>
          <p:nvPr/>
        </p:nvSpPr>
        <p:spPr>
          <a:xfrm>
            <a:off x="594360" y="4041720"/>
            <a:ext cx="52300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Team-level person responsible for FinOps in their area.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70" name="Rectangle 26"/>
          <p:cNvSpPr/>
          <p:nvPr/>
        </p:nvSpPr>
        <p:spPr>
          <a:xfrm>
            <a:off x="6282000" y="3620880"/>
            <a:ext cx="5559120" cy="82260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1" name="Rectangle 27"/>
          <p:cNvSpPr/>
          <p:nvPr/>
        </p:nvSpPr>
        <p:spPr>
          <a:xfrm>
            <a:off x="6282000" y="3620880"/>
            <a:ext cx="91080" cy="822600"/>
          </a:xfrm>
          <a:prstGeom prst="rect">
            <a:avLst/>
          </a:prstGeom>
          <a:solidFill>
            <a:srgbClr val="3c34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2" name="TextBox 28"/>
          <p:cNvSpPr/>
          <p:nvPr/>
        </p:nvSpPr>
        <p:spPr>
          <a:xfrm>
            <a:off x="6464880" y="3675960"/>
            <a:ext cx="1919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</a:rPr>
              <a:t>Tagging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73" name="TextBox 29"/>
          <p:cNvSpPr/>
          <p:nvPr/>
        </p:nvSpPr>
        <p:spPr>
          <a:xfrm>
            <a:off x="6464880" y="4041720"/>
            <a:ext cx="52300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Key-value labels on resources — e.g. Team=LendingEng.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74" name="Rectangle 30"/>
          <p:cNvSpPr/>
          <p:nvPr/>
        </p:nvSpPr>
        <p:spPr>
          <a:xfrm>
            <a:off x="411480" y="4572000"/>
            <a:ext cx="5559120" cy="82260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5" name="Rectangle 31"/>
          <p:cNvSpPr/>
          <p:nvPr/>
        </p:nvSpPr>
        <p:spPr>
          <a:xfrm>
            <a:off x="411480" y="4572000"/>
            <a:ext cx="91080" cy="822600"/>
          </a:xfrm>
          <a:prstGeom prst="rect">
            <a:avLst/>
          </a:prstGeom>
          <a:solidFill>
            <a:srgbClr val="ba751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6" name="TextBox 32"/>
          <p:cNvSpPr/>
          <p:nvPr/>
        </p:nvSpPr>
        <p:spPr>
          <a:xfrm>
            <a:off x="594360" y="4626720"/>
            <a:ext cx="1919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</a:rPr>
              <a:t>Reserved Instance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77" name="TextBox 33"/>
          <p:cNvSpPr/>
          <p:nvPr/>
        </p:nvSpPr>
        <p:spPr>
          <a:xfrm>
            <a:off x="594360" y="4992480"/>
            <a:ext cx="52300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Discounted pricing for committing to a resource for 1–3 years.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78" name="Rectangle 34"/>
          <p:cNvSpPr/>
          <p:nvPr/>
        </p:nvSpPr>
        <p:spPr>
          <a:xfrm>
            <a:off x="6282000" y="4572000"/>
            <a:ext cx="5559120" cy="82260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9" name="Rectangle 35"/>
          <p:cNvSpPr/>
          <p:nvPr/>
        </p:nvSpPr>
        <p:spPr>
          <a:xfrm>
            <a:off x="6282000" y="4572000"/>
            <a:ext cx="91080" cy="822600"/>
          </a:xfrm>
          <a:prstGeom prst="rect">
            <a:avLst/>
          </a:prstGeom>
          <a:solidFill>
            <a:srgbClr val="ba751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0" name="TextBox 36"/>
          <p:cNvSpPr/>
          <p:nvPr/>
        </p:nvSpPr>
        <p:spPr>
          <a:xfrm>
            <a:off x="6464880" y="4626720"/>
            <a:ext cx="1919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</a:rPr>
              <a:t>Anomaly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81" name="TextBox 37"/>
          <p:cNvSpPr/>
          <p:nvPr/>
        </p:nvSpPr>
        <p:spPr>
          <a:xfrm>
            <a:off x="6464880" y="4992480"/>
            <a:ext cx="52300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An unexpected spike or drop in cloud spend needing investigation.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82" name="Rectangle 38"/>
          <p:cNvSpPr/>
          <p:nvPr/>
        </p:nvSpPr>
        <p:spPr>
          <a:xfrm>
            <a:off x="411480" y="5523120"/>
            <a:ext cx="5559120" cy="82260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3" name="Rectangle 39"/>
          <p:cNvSpPr/>
          <p:nvPr/>
        </p:nvSpPr>
        <p:spPr>
          <a:xfrm>
            <a:off x="411480" y="5523120"/>
            <a:ext cx="91080" cy="82260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4" name="TextBox 40"/>
          <p:cNvSpPr/>
          <p:nvPr/>
        </p:nvSpPr>
        <p:spPr>
          <a:xfrm>
            <a:off x="594360" y="5577840"/>
            <a:ext cx="1919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</a:rPr>
              <a:t>Rightsizing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85" name="TextBox 41"/>
          <p:cNvSpPr/>
          <p:nvPr/>
        </p:nvSpPr>
        <p:spPr>
          <a:xfrm>
            <a:off x="594360" y="5943600"/>
            <a:ext cx="52300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Changing a resource to the size that matches actual usage.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86" name="Rectangle 42"/>
          <p:cNvSpPr/>
          <p:nvPr/>
        </p:nvSpPr>
        <p:spPr>
          <a:xfrm>
            <a:off x="6282000" y="5523120"/>
            <a:ext cx="5559120" cy="82260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7" name="Rectangle 43"/>
          <p:cNvSpPr/>
          <p:nvPr/>
        </p:nvSpPr>
        <p:spPr>
          <a:xfrm>
            <a:off x="6282000" y="5523120"/>
            <a:ext cx="91080" cy="82260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8" name="TextBox 44"/>
          <p:cNvSpPr/>
          <p:nvPr/>
        </p:nvSpPr>
        <p:spPr>
          <a:xfrm>
            <a:off x="6464880" y="5577840"/>
            <a:ext cx="1919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</a:rPr>
              <a:t>Cost Allocation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89" name="TextBox 45"/>
          <p:cNvSpPr/>
          <p:nvPr/>
        </p:nvSpPr>
        <p:spPr>
          <a:xfrm>
            <a:off x="6464880" y="5943600"/>
            <a:ext cx="52300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444441"/>
                </a:solidFill>
                <a:latin typeface="Calibri"/>
              </a:rPr>
              <a:t>Assigning cloud costs to specific teams, products, or projects.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90" name="TextBox 46"/>
          <p:cNvSpPr/>
          <p:nvPr/>
        </p:nvSpPr>
        <p:spPr>
          <a:xfrm>
            <a:off x="11247120" y="6492240"/>
            <a:ext cx="8226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88780"/>
                </a:solidFill>
                <a:latin typeface="Calibri"/>
              </a:rPr>
              <a:t>8 / 10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ef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3" name="Rectangle 3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4" name="TextBox 4"/>
          <p:cNvSpPr/>
          <p:nvPr/>
        </p:nvSpPr>
        <p:spPr>
          <a:xfrm>
            <a:off x="420480" y="201240"/>
            <a:ext cx="109724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Hands-on Lab: Map LAPO MfB Cloud Spend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95" name="TextBox 5"/>
          <p:cNvSpPr/>
          <p:nvPr/>
        </p:nvSpPr>
        <p:spPr>
          <a:xfrm>
            <a:off x="420480" y="1371600"/>
            <a:ext cx="64004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50" spc="-1" strike="noStrike">
                <a:solidFill>
                  <a:srgbClr val="888780"/>
                </a:solidFill>
                <a:latin typeface="Calibri"/>
              </a:rPr>
              <a:t>Group Exercise  ·  30 minutes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96" name="Rectangle 6"/>
          <p:cNvSpPr/>
          <p:nvPr/>
        </p:nvSpPr>
        <p:spPr>
          <a:xfrm>
            <a:off x="457200" y="1783080"/>
            <a:ext cx="11246760" cy="749520"/>
          </a:xfrm>
          <a:prstGeom prst="rect">
            <a:avLst/>
          </a:prstGeom>
          <a:solidFill>
            <a:srgbClr val="e1f5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7" name="Rectangle 7"/>
          <p:cNvSpPr/>
          <p:nvPr/>
        </p:nvSpPr>
        <p:spPr>
          <a:xfrm>
            <a:off x="457200" y="1783080"/>
            <a:ext cx="109440" cy="74952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8" name="TextBox 8"/>
          <p:cNvSpPr/>
          <p:nvPr/>
        </p:nvSpPr>
        <p:spPr>
          <a:xfrm>
            <a:off x="685800" y="1847160"/>
            <a:ext cx="108352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0d2137"/>
                </a:solidFill>
                <a:latin typeface="Calibri"/>
              </a:rPr>
              <a:t>Scenario: You are the new FinOps team at LAPO MfB. You have been handed last month's cloud bill summary. Make sense of it.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99" name="Rectangle 9"/>
          <p:cNvSpPr/>
          <p:nvPr/>
        </p:nvSpPr>
        <p:spPr>
          <a:xfrm>
            <a:off x="457200" y="2724840"/>
            <a:ext cx="11246760" cy="859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0" name="Rectangle 10"/>
          <p:cNvSpPr/>
          <p:nvPr/>
        </p:nvSpPr>
        <p:spPr>
          <a:xfrm>
            <a:off x="457200" y="2724840"/>
            <a:ext cx="1279800" cy="85932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1" name="TextBox 11"/>
          <p:cNvSpPr/>
          <p:nvPr/>
        </p:nvSpPr>
        <p:spPr>
          <a:xfrm>
            <a:off x="457200" y="2834640"/>
            <a:ext cx="127980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Step 1</a:t>
            </a:r>
            <a:endParaRPr b="0" lang="en-US" sz="11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Categorise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302" name="TextBox 12"/>
          <p:cNvSpPr/>
          <p:nvPr/>
        </p:nvSpPr>
        <p:spPr>
          <a:xfrm>
            <a:off x="1874520" y="2907720"/>
            <a:ext cx="96922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Group all cloud services into: Compute · Storage · Networking · Database · Analytics · Security · Other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03" name="Rectangle 13"/>
          <p:cNvSpPr/>
          <p:nvPr/>
        </p:nvSpPr>
        <p:spPr>
          <a:xfrm>
            <a:off x="457200" y="3712320"/>
            <a:ext cx="11246760" cy="859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4" name="Rectangle 14"/>
          <p:cNvSpPr/>
          <p:nvPr/>
        </p:nvSpPr>
        <p:spPr>
          <a:xfrm>
            <a:off x="457200" y="3712320"/>
            <a:ext cx="1279800" cy="85932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5" name="TextBox 15"/>
          <p:cNvSpPr/>
          <p:nvPr/>
        </p:nvSpPr>
        <p:spPr>
          <a:xfrm>
            <a:off x="457200" y="3822120"/>
            <a:ext cx="1279800" cy="59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Step 2</a:t>
            </a:r>
            <a:endParaRPr b="0" lang="en-US" sz="11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Assign Owners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306" name="TextBox 16"/>
          <p:cNvSpPr/>
          <p:nvPr/>
        </p:nvSpPr>
        <p:spPr>
          <a:xfrm>
            <a:off x="1874520" y="3895200"/>
            <a:ext cx="96922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For each category, identify which LAPO team likely owns it: IT · Loans · Risk · Finance · Data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07" name="Rectangle 17"/>
          <p:cNvSpPr/>
          <p:nvPr/>
        </p:nvSpPr>
        <p:spPr>
          <a:xfrm>
            <a:off x="457200" y="4700160"/>
            <a:ext cx="11246760" cy="859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8" name="Rectangle 18"/>
          <p:cNvSpPr/>
          <p:nvPr/>
        </p:nvSpPr>
        <p:spPr>
          <a:xfrm>
            <a:off x="457200" y="4700160"/>
            <a:ext cx="1279800" cy="85932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9" name="TextBox 19"/>
          <p:cNvSpPr/>
          <p:nvPr/>
        </p:nvSpPr>
        <p:spPr>
          <a:xfrm>
            <a:off x="457200" y="4809600"/>
            <a:ext cx="127980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Step 3</a:t>
            </a:r>
            <a:endParaRPr b="0" lang="en-US" sz="11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Find the Gaps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310" name="TextBox 20"/>
          <p:cNvSpPr/>
          <p:nvPr/>
        </p:nvSpPr>
        <p:spPr>
          <a:xfrm>
            <a:off x="1874520" y="4883040"/>
            <a:ext cx="96922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Which categories have NO obvious owner? Mark them — these 'accountability gaps' are where FinOps begins.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11" name="Rectangle 21"/>
          <p:cNvSpPr/>
          <p:nvPr/>
        </p:nvSpPr>
        <p:spPr>
          <a:xfrm>
            <a:off x="457200" y="5687640"/>
            <a:ext cx="11246760" cy="859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2" name="Rectangle 22"/>
          <p:cNvSpPr/>
          <p:nvPr/>
        </p:nvSpPr>
        <p:spPr>
          <a:xfrm>
            <a:off x="457200" y="5687640"/>
            <a:ext cx="1279800" cy="85932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3" name="TextBox 23"/>
          <p:cNvSpPr/>
          <p:nvPr/>
        </p:nvSpPr>
        <p:spPr>
          <a:xfrm>
            <a:off x="457200" y="5797440"/>
            <a:ext cx="1279800" cy="4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Step 4</a:t>
            </a:r>
            <a:endParaRPr b="0" lang="en-US" sz="11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Present Back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314" name="TextBox 24"/>
          <p:cNvSpPr/>
          <p:nvPr/>
        </p:nvSpPr>
        <p:spPr>
          <a:xfrm>
            <a:off x="1874520" y="5870520"/>
            <a:ext cx="96922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44441"/>
                </a:solidFill>
                <a:latin typeface="Calibri"/>
              </a:rPr>
              <a:t>Each group shares: Top 2 cost categories · 1 accountability gap · 1 quick win idea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15" name="TextBox 25"/>
          <p:cNvSpPr/>
          <p:nvPr/>
        </p:nvSpPr>
        <p:spPr>
          <a:xfrm>
            <a:off x="457200" y="6537960"/>
            <a:ext cx="1097244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950" spc="-1" strike="noStrike">
                <a:solidFill>
                  <a:srgbClr val="888780"/>
                </a:solidFill>
                <a:latin typeface="Calibri"/>
              </a:rPr>
              <a:t>Facilitator: Distribute the printed billing spreadsheet now. Form groups of 3–4. Set a 25-minute timer.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316" name="TextBox 26"/>
          <p:cNvSpPr/>
          <p:nvPr/>
        </p:nvSpPr>
        <p:spPr>
          <a:xfrm>
            <a:off x="11247120" y="6492240"/>
            <a:ext cx="8226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88780"/>
                </a:solidFill>
                <a:latin typeface="Calibri"/>
              </a:rPr>
              <a:t>9 / 10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-301320" y="1600200"/>
            <a:ext cx="12188520" cy="6857640"/>
          </a:xfrm>
          <a:prstGeom prst="rect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8" name="Rectangle 2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9" name="TextBox 3"/>
          <p:cNvSpPr/>
          <p:nvPr/>
        </p:nvSpPr>
        <p:spPr>
          <a:xfrm>
            <a:off x="457200" y="320040"/>
            <a:ext cx="91436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Day 1 — What We Covered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320" name="Rectangle 4"/>
          <p:cNvSpPr/>
          <p:nvPr/>
        </p:nvSpPr>
        <p:spPr>
          <a:xfrm>
            <a:off x="457200" y="1115640"/>
            <a:ext cx="7772040" cy="4536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1" name="Rectangle 5"/>
          <p:cNvSpPr/>
          <p:nvPr/>
        </p:nvSpPr>
        <p:spPr>
          <a:xfrm>
            <a:off x="457200" y="1325880"/>
            <a:ext cx="109440" cy="74952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2" name="TextBox 6"/>
          <p:cNvSpPr/>
          <p:nvPr/>
        </p:nvSpPr>
        <p:spPr>
          <a:xfrm>
            <a:off x="685800" y="1380600"/>
            <a:ext cx="2742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f6e56"/>
                </a:solidFill>
                <a:latin typeface="Calibri"/>
              </a:rPr>
              <a:t>FinOps Defined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23" name="TextBox 7"/>
          <p:cNvSpPr/>
          <p:nvPr/>
        </p:nvSpPr>
        <p:spPr>
          <a:xfrm>
            <a:off x="685800" y="1728360"/>
            <a:ext cx="10515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c2c0b6"/>
                </a:solidFill>
                <a:latin typeface="Calibri"/>
              </a:rPr>
              <a:t>A practice to make every cloud dollar intentional, tracked &amp; owned by someone.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4" name="Rectangle 8"/>
          <p:cNvSpPr/>
          <p:nvPr/>
        </p:nvSpPr>
        <p:spPr>
          <a:xfrm>
            <a:off x="457200" y="2221920"/>
            <a:ext cx="109440" cy="749520"/>
          </a:xfrm>
          <a:prstGeom prst="rect">
            <a:avLst/>
          </a:prstGeom>
          <a:solidFill>
            <a:srgbClr val="993c1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5" name="TextBox 9"/>
          <p:cNvSpPr/>
          <p:nvPr/>
        </p:nvSpPr>
        <p:spPr>
          <a:xfrm>
            <a:off x="685800" y="2277000"/>
            <a:ext cx="2742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993c1d"/>
                </a:solidFill>
                <a:latin typeface="Calibri"/>
              </a:rPr>
              <a:t>3 Myths Busted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26" name="TextBox 10"/>
          <p:cNvSpPr/>
          <p:nvPr/>
        </p:nvSpPr>
        <p:spPr>
          <a:xfrm>
            <a:off x="685800" y="2624400"/>
            <a:ext cx="10515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c2c0b6"/>
                </a:solidFill>
                <a:latin typeface="Calibri"/>
              </a:rPr>
              <a:t>Not cost cutting. Not finance's job. Not a one-time project.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7" name="Rectangle 11"/>
          <p:cNvSpPr/>
          <p:nvPr/>
        </p:nvSpPr>
        <p:spPr>
          <a:xfrm>
            <a:off x="457200" y="3117960"/>
            <a:ext cx="109440" cy="749520"/>
          </a:xfrm>
          <a:prstGeom prst="rect">
            <a:avLst/>
          </a:prstGeom>
          <a:solidFill>
            <a:srgbClr val="3c34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8" name="TextBox 12"/>
          <p:cNvSpPr/>
          <p:nvPr/>
        </p:nvSpPr>
        <p:spPr>
          <a:xfrm>
            <a:off x="685800" y="3173040"/>
            <a:ext cx="2742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3c3489"/>
                </a:solidFill>
                <a:latin typeface="Calibri"/>
              </a:rPr>
              <a:t>6 Principles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29" name="TextBox 13"/>
          <p:cNvSpPr/>
          <p:nvPr/>
        </p:nvSpPr>
        <p:spPr>
          <a:xfrm>
            <a:off x="685800" y="3520440"/>
            <a:ext cx="10515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c2c0b6"/>
                </a:solidFill>
                <a:latin typeface="Calibri"/>
              </a:rPr>
              <a:t>Collaborate · Own costs · Enable · Timely data · Business value · Variable model.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30" name="Rectangle 14"/>
          <p:cNvSpPr/>
          <p:nvPr/>
        </p:nvSpPr>
        <p:spPr>
          <a:xfrm>
            <a:off x="457200" y="4014360"/>
            <a:ext cx="109440" cy="749520"/>
          </a:xfrm>
          <a:prstGeom prst="rect">
            <a:avLst/>
          </a:prstGeom>
          <a:solidFill>
            <a:srgbClr val="ba751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1" name="TextBox 15"/>
          <p:cNvSpPr/>
          <p:nvPr/>
        </p:nvSpPr>
        <p:spPr>
          <a:xfrm>
            <a:off x="685800" y="4069080"/>
            <a:ext cx="2742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ba7517"/>
                </a:solidFill>
                <a:latin typeface="Calibri"/>
              </a:rPr>
              <a:t>3 Phases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32" name="TextBox 16"/>
          <p:cNvSpPr/>
          <p:nvPr/>
        </p:nvSpPr>
        <p:spPr>
          <a:xfrm>
            <a:off x="685800" y="4416480"/>
            <a:ext cx="10515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c2c0b6"/>
                </a:solidFill>
                <a:latin typeface="Calibri"/>
              </a:rPr>
              <a:t>Inform → Optimize → Operate. Days 2, 3 &amp; 4 each cover one phase.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33" name="Rectangle 17"/>
          <p:cNvSpPr/>
          <p:nvPr/>
        </p:nvSpPr>
        <p:spPr>
          <a:xfrm>
            <a:off x="457200" y="4910400"/>
            <a:ext cx="109440" cy="74952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4" name="TextBox 18"/>
          <p:cNvSpPr/>
          <p:nvPr/>
        </p:nvSpPr>
        <p:spPr>
          <a:xfrm>
            <a:off x="685800" y="4965120"/>
            <a:ext cx="2742840" cy="4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d9e75"/>
                </a:solidFill>
                <a:latin typeface="Calibri"/>
              </a:rPr>
              <a:t>Business Case &amp; Governance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35" name="TextBox 19"/>
          <p:cNvSpPr/>
          <p:nvPr/>
        </p:nvSpPr>
        <p:spPr>
          <a:xfrm>
            <a:off x="685800" y="5312520"/>
            <a:ext cx="10515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c2c0b6"/>
                </a:solidFill>
                <a:latin typeface="Calibri"/>
              </a:rPr>
              <a:t>Margins, unit economics, and CBN compliance make FinOps mandatory.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36" name="Rectangle 20"/>
          <p:cNvSpPr/>
          <p:nvPr/>
        </p:nvSpPr>
        <p:spPr>
          <a:xfrm>
            <a:off x="457200" y="5897880"/>
            <a:ext cx="11246760" cy="685440"/>
          </a:xfrm>
          <a:prstGeom prst="rect">
            <a:avLst/>
          </a:prstGeom>
          <a:solidFill>
            <a:srgbClr val="0f6e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7" name="TextBox 21"/>
          <p:cNvSpPr/>
          <p:nvPr/>
        </p:nvSpPr>
        <p:spPr>
          <a:xfrm>
            <a:off x="640080" y="5925240"/>
            <a:ext cx="1088100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Tomorrow — Day 2:  Inform Phase — Visibility, tagging strategy &amp; cost allocation dashboards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338" name="TextBox 22"/>
          <p:cNvSpPr/>
          <p:nvPr/>
        </p:nvSpPr>
        <p:spPr>
          <a:xfrm>
            <a:off x="11247120" y="6492240"/>
            <a:ext cx="8226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36720" bIns="3672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88780"/>
                </a:solidFill>
                <a:latin typeface="Calibri"/>
              </a:rPr>
              <a:t>10 / 10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1818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2026-04-08T16:13:03Z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